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f8bf1f39a0a461e" /><Relationship Type="http://schemas.openxmlformats.org/officeDocument/2006/relationships/extended-properties" Target="/docProps/app.xml" Id="R76a0bb3362a1462a" /><Relationship Type="http://schemas.openxmlformats.org/officeDocument/2006/relationships/officeDocument" Target="/ppt/presentation.xml" Id="R24f8112872344fe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b1d974876e44ea8"/>
  </p:sldMasterIdLst>
  <p:notesMasterIdLst>
    <p:notesMasterId xmlns:r="http://schemas.openxmlformats.org/officeDocument/2006/relationships" r:id="R5f093b318ba94e03"/>
  </p:notesMasterIdLst>
  <p:sldIdLst>
    <p:sldId xmlns:r="http://schemas.openxmlformats.org/officeDocument/2006/relationships" id="256" r:id="Rb9f204cb0bd944fa"/>
    <p:sldId xmlns:r="http://schemas.openxmlformats.org/officeDocument/2006/relationships" id="257" r:id="Rc8b89cb8be874fb1"/>
    <p:sldId xmlns:r="http://schemas.openxmlformats.org/officeDocument/2006/relationships" id="258" r:id="R79e642cd6b014ddb"/>
    <p:sldId xmlns:r="http://schemas.openxmlformats.org/officeDocument/2006/relationships" id="259" r:id="R2603eeb4732f4d3b"/>
    <p:sldId xmlns:r="http://schemas.openxmlformats.org/officeDocument/2006/relationships" id="260" r:id="R234ae1c62e194fa4"/>
    <p:sldId xmlns:r="http://schemas.openxmlformats.org/officeDocument/2006/relationships" id="261" r:id="Rbe95fee2ed334523"/>
    <p:sldId xmlns:r="http://schemas.openxmlformats.org/officeDocument/2006/relationships" id="262" r:id="R37e72ff79b864cfc"/>
    <p:sldId xmlns:r="http://schemas.openxmlformats.org/officeDocument/2006/relationships" id="263" r:id="R79cfcb64f524424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77543af14fc4ec1" /><Relationship Type="http://schemas.openxmlformats.org/officeDocument/2006/relationships/slideMaster" Target="/ppt/slideMasters/slideMaster1.xml" Id="Rbb1d974876e44ea8" /><Relationship Type="http://schemas.openxmlformats.org/officeDocument/2006/relationships/notesMaster" Target="/ppt/notesMasters/notesMaster1.xml" Id="R5f093b318ba94e03" /><Relationship Type="http://schemas.openxmlformats.org/officeDocument/2006/relationships/presProps" Target="/ppt/presProps.xml" Id="R4f2f65a671ea4f10" /><Relationship Type="http://schemas.openxmlformats.org/officeDocument/2006/relationships/tableStyles" Target="/ppt/tableStyles.xml" Id="Rc2df22121d1c40a3" /><Relationship Type="http://schemas.openxmlformats.org/officeDocument/2006/relationships/slide" Target="/ppt/slides/slide1.xml" Id="Rb9f204cb0bd944fa" /><Relationship Type="http://schemas.openxmlformats.org/officeDocument/2006/relationships/slide" Target="/ppt/slides/slide2.xml" Id="Rc8b89cb8be874fb1" /><Relationship Type="http://schemas.openxmlformats.org/officeDocument/2006/relationships/slide" Target="/ppt/slides/slide3.xml" Id="R79e642cd6b014ddb" /><Relationship Type="http://schemas.openxmlformats.org/officeDocument/2006/relationships/slide" Target="/ppt/slides/slide4.xml" Id="R2603eeb4732f4d3b" /><Relationship Type="http://schemas.openxmlformats.org/officeDocument/2006/relationships/slide" Target="/ppt/slides/slide5.xml" Id="R234ae1c62e194fa4" /><Relationship Type="http://schemas.openxmlformats.org/officeDocument/2006/relationships/slide" Target="/ppt/slides/slide6.xml" Id="Rbe95fee2ed334523" /><Relationship Type="http://schemas.openxmlformats.org/officeDocument/2006/relationships/slide" Target="/ppt/slides/slide7.xml" Id="R37e72ff79b864cfc" /><Relationship Type="http://schemas.openxmlformats.org/officeDocument/2006/relationships/slide" Target="/ppt/slides/slide8.xml" Id="R79cfcb64f524424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7e617594b4c482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200a6dfac6d42ef" /><Relationship Type="http://schemas.openxmlformats.org/officeDocument/2006/relationships/notesMaster" Target="/ppt/notesMasters/notesMaster1.xml" Id="Rccd76d6823ce4c8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39a574686934818" /><Relationship Type="http://schemas.openxmlformats.org/officeDocument/2006/relationships/notesMaster" Target="/ppt/notesMasters/notesMaster1.xml" Id="R0c6dcec2fa16405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07ac52b476a4a00" /><Relationship Type="http://schemas.openxmlformats.org/officeDocument/2006/relationships/notesMaster" Target="/ppt/notesMasters/notesMaster1.xml" Id="R9a781c0439d0420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77a95864efd4aa7" /><Relationship Type="http://schemas.openxmlformats.org/officeDocument/2006/relationships/notesMaster" Target="/ppt/notesMasters/notesMaster1.xml" Id="Rf2d39a297ecb444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a69086ebae746ba" /><Relationship Type="http://schemas.openxmlformats.org/officeDocument/2006/relationships/notesMaster" Target="/ppt/notesMasters/notesMaster1.xml" Id="Rfb90bd209a9045c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d23cb1cccfa46ab" /><Relationship Type="http://schemas.openxmlformats.org/officeDocument/2006/relationships/notesMaster" Target="/ppt/notesMasters/notesMaster1.xml" Id="R4d09fefd8fce460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6ea42e6b56d4faf" /><Relationship Type="http://schemas.openxmlformats.org/officeDocument/2006/relationships/notesMaster" Target="/ppt/notesMasters/notesMaster1.xml" Id="R9e95f7a31cbc4bb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b4c9a9b1026429b" /><Relationship Type="http://schemas.openxmlformats.org/officeDocument/2006/relationships/notesMaster" Target="/ppt/notesMasters/notesMaster1.xml" Id="R9dad459baca7400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789e0aa60c4c0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f75357e912b4e7e" /><Relationship Type="http://schemas.openxmlformats.org/officeDocument/2006/relationships/slideLayout" Target="/ppt/slideLayouts/slideLayout1.xml" Id="R47e1cd7ebfa3441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7e1cd7ebfa3441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538bbd56ba432a" /><Relationship Type="http://schemas.openxmlformats.org/officeDocument/2006/relationships/image" Target="/ppt/media/image.png" Id="R275dcc3516d14bd8" /><Relationship Type="http://schemas.openxmlformats.org/officeDocument/2006/relationships/notesSlide" Target="/ppt/notesSlides/notesSlide1.xml" Id="R6f7c938dfb4942c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302ce5afef4254" /><Relationship Type="http://schemas.openxmlformats.org/officeDocument/2006/relationships/notesSlide" Target="/ppt/notesSlides/notesSlide2.xml" Id="R0bce8c576649426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9edd5c7fc1441f" /><Relationship Type="http://schemas.openxmlformats.org/officeDocument/2006/relationships/image" Target="/ppt/media/image2.png" Id="R9840fbc3b5164f46" /><Relationship Type="http://schemas.openxmlformats.org/officeDocument/2006/relationships/notesSlide" Target="/ppt/notesSlides/notesSlide3.xml" Id="Rca71e00206cf4c5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c6c4f909054e83" /><Relationship Type="http://schemas.openxmlformats.org/officeDocument/2006/relationships/image" Target="/ppt/media/image3.png" Id="R1d965b0790c84817" /><Relationship Type="http://schemas.openxmlformats.org/officeDocument/2006/relationships/notesSlide" Target="/ppt/notesSlides/notesSlide4.xml" Id="Rde75b661889d49a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d870154b1f4f81" /><Relationship Type="http://schemas.openxmlformats.org/officeDocument/2006/relationships/notesSlide" Target="/ppt/notesSlides/notesSlide5.xml" Id="Ra7233be672b54dd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1df4eaa66b4cc2" /><Relationship Type="http://schemas.openxmlformats.org/officeDocument/2006/relationships/notesSlide" Target="/ppt/notesSlides/notesSlide6.xml" Id="R0a9650ad64ad418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55fd9968c84b47" /><Relationship Type="http://schemas.openxmlformats.org/officeDocument/2006/relationships/image" Target="/ppt/media/image4.png" Id="Rea1df9780e9d45fc" /><Relationship Type="http://schemas.openxmlformats.org/officeDocument/2006/relationships/notesSlide" Target="/ppt/notesSlides/notesSlide7.xml" Id="Rc92ff709d20b471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c9df2634fd45dd" /><Relationship Type="http://schemas.openxmlformats.org/officeDocument/2006/relationships/image" Target="/ppt/media/image.svg" Id="Rbafda0e3d6a44dc5" /><Relationship Type="http://schemas.openxmlformats.org/officeDocument/2006/relationships/image" Target="/ppt/media/image.png" Id="R9b068b0c389b4489" /><Relationship Type="http://schemas.openxmlformats.org/officeDocument/2006/relationships/image" Target="/ppt/media/image5.png" Id="Rc7d23b30927c47e3" /><Relationship Type="http://schemas.openxmlformats.org/officeDocument/2006/relationships/notesSlide" Target="/ppt/notesSlides/notesSlide8.xml" Id="R5ea3b0b3908c425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0F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5dcc3516d14bd8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3962400"/>
          </a:xfrm>
          <a:prstGeom xmlns:a="http://schemas.openxmlformats.org/drawingml/2006/main" prst="roundRect">
            <a:avLst>
              <a:gd name="adj" fmla="val 1923"/>
            </a:avLst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2E9C94-E1B9-42A7-9CF2-11E49D4C6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8191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E6EFEB"/>
                </a:solidFill>
              </a:defRPr>
            </a:pPr>
            <a:r>
              <a:rPr sz="3750" b="1">
                <a:solidFill>
                  <a:srgbClr val="E6EFEB"/>
                </a:solidFill>
              </a:rPr>
              <a:t>A measured voice-agent system, not a stitched-together demo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BE75A3-0CC6-40D6-95D6-7AD0C8C17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673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8CA098"/>
                </a:solidFill>
              </a:defRPr>
            </a:pPr>
            <a:r>
              <a:rPr sz="1650" b="0">
                <a:solidFill>
                  <a:srgbClr val="8CA098"/>
                </a:solidFill>
              </a:rPr>
              <a:t>Streaming audio, LangGraph tools, barge-in, spoken memory, and simulation-based evaluation.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77E4E8-8E88-495A-9276-35F2A3A46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550545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34D399"/>
                </a:solidFill>
              </a:defRPr>
            </a:pPr>
            <a:r>
              <a:rPr sz="1350" b="1">
                <a:solidFill>
                  <a:srgbClr val="34D399"/>
                </a:solidFill>
              </a:rPr>
              <a:t>Project brief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25F20A-E25D-412C-9072-BA4EEDFC4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657350"/>
            <a:ext cx="1676400" cy="447675"/>
          </a:xfrm>
          <a:prstGeom xmlns:a="http://schemas.openxmlformats.org/drawingml/2006/main" prst="roundRect">
            <a:avLst>
              <a:gd name="adj" fmla="val 17021"/>
            </a:avLst>
          </a:prstGeom>
          <a:solidFill xmlns:a="http://schemas.openxmlformats.org/drawingml/2006/main">
            <a:srgbClr val="16201D"/>
          </a:solidFill>
          <a:ln xmlns:a="http://schemas.openxmlformats.org/drawingml/2006/main" w="9525">
            <a:solidFill>
              <a:srgbClr val="26322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7B6744-EF3C-494E-B0DF-D6F73FE21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809750"/>
            <a:ext cx="135255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750">
                <a:solidFill>
                  <a:srgbClr val="8CA098"/>
                </a:solidFill>
              </a:defRPr>
            </a:pPr>
            <a:r>
              <a:rPr sz="750">
                <a:solidFill>
                  <a:srgbClr val="8CA098"/>
                </a:solidFill>
              </a:rPr>
              <a:t>Barge-in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015AB7-3BB0-46C3-A7E9-775EB650A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971675"/>
            <a:ext cx="1428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34D399"/>
                </a:solidFill>
              </a:defRPr>
            </a:pPr>
            <a:r>
              <a:rPr sz="1050">
                <a:solidFill>
                  <a:srgbClr val="34D399"/>
                </a:solidFill>
              </a:rPr>
              <a:t>p50 328ms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8E5ABE-4DB6-41D6-B890-6EC2414C9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657350"/>
            <a:ext cx="1295400" cy="447675"/>
          </a:xfrm>
          <a:prstGeom xmlns:a="http://schemas.openxmlformats.org/drawingml/2006/main" prst="roundRect">
            <a:avLst>
              <a:gd name="adj" fmla="val 17021"/>
            </a:avLst>
          </a:prstGeom>
          <a:solidFill xmlns:a="http://schemas.openxmlformats.org/drawingml/2006/main">
            <a:srgbClr val="16201D"/>
          </a:solidFill>
          <a:ln xmlns:a="http://schemas.openxmlformats.org/drawingml/2006/main" w="9525">
            <a:solidFill>
              <a:srgbClr val="26322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285200-27D8-49B6-8090-01FCC6BC2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09750"/>
            <a:ext cx="10287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750">
                <a:solidFill>
                  <a:srgbClr val="8CA098"/>
                </a:solidFill>
              </a:defRPr>
            </a:pPr>
            <a:r>
              <a:rPr sz="750">
                <a:solidFill>
                  <a:srgbClr val="8CA098"/>
                </a:solidFill>
              </a:rPr>
              <a:t>Tests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0CF5A7-EA43-4866-BD2E-E93573734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971675"/>
            <a:ext cx="1104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34D399"/>
                </a:solidFill>
              </a:defRPr>
            </a:pPr>
            <a:r>
              <a:rPr sz="1050">
                <a:solidFill>
                  <a:srgbClr val="34D399"/>
                </a:solidFill>
              </a:rPr>
              <a:t>run suite</a:t>
            </a:r>
          </a:p>
        </p:txBody>
      </p:sp>
    </p:spTree>
    <p:extLst>
      <p:ext uri="{BB962C8B-B14F-4D97-AF65-F5344CB8AC3E}">
        <p14:creationId xmlns:p14="http://schemas.microsoft.com/office/powerpoint/2010/main" val="78244866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0F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3645A4-89E8-4DB1-B37F-25FC740BD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8858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75" b="1">
                <a:solidFill>
                  <a:srgbClr val="E6EFEB"/>
                </a:solidFill>
              </a:defRPr>
            </a:pPr>
            <a:r>
              <a:rPr sz="3075" b="1">
                <a:solidFill>
                  <a:srgbClr val="E6EFEB"/>
                </a:solidFill>
              </a:rPr>
              <a:t>The hard part is the call, not just the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472923-6703-4841-8B41-779DDFD45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714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34D39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1B2E42-7DE3-478F-A3B9-CED611EA3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723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8CA098"/>
                </a:solidFill>
              </a:defRPr>
            </a:pPr>
            <a:r>
              <a:rPr sz="1875" b="0">
                <a:solidFill>
                  <a:srgbClr val="8CA098"/>
                </a:solidFill>
              </a:rPr>
              <a:t>Most voice demos work until a real caller pauses, talks over the agent, or asks for something the backend must constrain.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8C8B45-38E3-4CA9-84EF-BDCE5BFF1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146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0A5FA"/>
          </a:solidFill>
          <a:ln xmlns:a="http://schemas.openxmlformats.org/drawingml/2006/main" w="0">
            <a:solidFill>
              <a:srgbClr val="60A5F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1A82C9-9B26-4E35-8E3E-E03D0799D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647950"/>
            <a:ext cx="6648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E6EFEB"/>
                </a:solidFill>
              </a:defRPr>
            </a:pPr>
            <a:r>
              <a:rPr sz="1650" b="0">
                <a:solidFill>
                  <a:srgbClr val="E6EFEB"/>
                </a:solidFill>
              </a:rPr>
              <a:t>20ms audio frames arrive whether the model is ready or not.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49EAD7-3C4F-48FA-A1A6-BC05D3D56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623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solidFill>
              <a:srgbClr val="FBBF2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549315-347F-426B-9806-ACB6C21E2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295650"/>
            <a:ext cx="6648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E6EFEB"/>
                </a:solidFill>
              </a:defRPr>
            </a:pPr>
            <a:r>
              <a:rPr sz="1650" b="0">
                <a:solidFill>
                  <a:srgbClr val="E6EFEB"/>
                </a:solidFill>
              </a:rPr>
              <a:t>Endpointing trades latency against cutting people off.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6079FB-3C53-4B14-BDCE-7E0E9E229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100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34D39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FC500C-1B39-4E0B-B23A-7DC00A12E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943350"/>
            <a:ext cx="6648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E6EFEB"/>
                </a:solidFill>
              </a:defRPr>
            </a:pPr>
            <a:r>
              <a:rPr sz="1650" b="0">
                <a:solidFill>
                  <a:srgbClr val="E6EFEB"/>
                </a:solidFill>
              </a:rPr>
              <a:t>Barge-in only works if reception and playback do not fight over the socket.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5123D3-A23A-46F1-8F16-00EA8E0A4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577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7171"/>
          </a:solidFill>
          <a:ln xmlns:a="http://schemas.openxmlformats.org/drawingml/2006/main" w="0">
            <a:solidFill>
              <a:srgbClr val="F8717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63D266-9983-4138-8A4F-34D7AF450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591050"/>
            <a:ext cx="6648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E6EFEB"/>
                </a:solidFill>
              </a:defRPr>
            </a:pPr>
            <a:r>
              <a:rPr sz="1650" b="0">
                <a:solidFill>
                  <a:srgbClr val="E6EFEB"/>
                </a:solidFill>
              </a:rPr>
              <a:t>Memory must record what was heard, not what was generated.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16D975-FED7-4C0E-910D-EA6A43690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04950"/>
            <a:ext cx="2724150" cy="30289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16201D"/>
          </a:solidFill>
          <a:ln xmlns:a="http://schemas.openxmlformats.org/drawingml/2006/main" w="9525">
            <a:solidFill>
              <a:srgbClr val="26322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AF27E2-AD7A-40BA-935A-3387FE8D9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8478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34D399"/>
                </a:solidFill>
              </a:defRPr>
            </a:pPr>
            <a:r>
              <a:rPr sz="1800" b="1">
                <a:solidFill>
                  <a:srgbClr val="34D399"/>
                </a:solidFill>
              </a:rPr>
              <a:t>Design answer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4CF9A8-97E2-4E28-A68A-37407663D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381250"/>
            <a:ext cx="207645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E6EFEB"/>
                </a:solidFill>
              </a:defRPr>
            </a:pPr>
            <a:r>
              <a:rPr sz="1875" b="0">
                <a:solidFill>
                  <a:srgbClr val="E6EFEB"/>
                </a:solidFill>
              </a:rPr>
              <a:t>Keep the audio loop plain and measurable. Let LangGraph reason, but never own frame timing.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04D095-F92F-4EA0-8A95-E19BAD2BC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8CA098"/>
                </a:solidFill>
              </a:defRPr>
            </a:pPr>
            <a:r>
              <a:rPr sz="1050" b="1">
                <a:solidFill>
                  <a:srgbClr val="8CA098"/>
                </a:solidFill>
              </a:rPr>
              <a:t>voice-agent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6DF7BA-7C14-448F-B901-12CC977BF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6324600"/>
            <a:ext cx="590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8CA098"/>
                </a:solidFill>
              </a:defRPr>
            </a:pPr>
            <a:r>
              <a:rPr sz="1050" b="0">
                <a:solidFill>
                  <a:srgbClr val="8CA098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32218193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0F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75A81E-D230-4708-BD6E-B98AF5EEB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9144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E6EFEB"/>
                </a:solidFill>
              </a:defRPr>
            </a:pPr>
            <a:r>
              <a:rPr sz="3000" b="1">
                <a:solidFill>
                  <a:srgbClr val="E6EFEB"/>
                </a:solidFill>
              </a:rPr>
              <a:t>One receive owner keeps the audio path honest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CE73E0-46C2-47A1-BD26-ED79A13F3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28700"/>
            <a:ext cx="7048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8CA098"/>
                </a:solidFill>
              </a:defRPr>
            </a:pPr>
            <a:r>
              <a:rPr sz="1575" b="0">
                <a:solidFill>
                  <a:srgbClr val="8CA098"/>
                </a:solidFill>
              </a:rPr>
              <a:t>RxPump owns inbound audio; downstream consumers read frames, not the socket.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40fbc3b5164f46"/>
          <a:stretch xmlns:a="http://schemas.openxmlformats.org/drawingml/2006/main"/>
        </p:blipFill>
        <p:spPr>
          <a:xfrm xmlns:a="http://schemas.openxmlformats.org/drawingml/2006/main">
            <a:off x="476250" y="1528763"/>
            <a:ext cx="11239500" cy="3933825"/>
          </a:xfrm>
          <a:prstGeom xmlns:a="http://schemas.openxmlformats.org/drawingml/2006/main" prst="roundRect">
            <a:avLst>
              <a:gd name="adj" fmla="val 1932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07F8C0-0E7C-4E70-9CD0-E4E9F8EFF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619750"/>
            <a:ext cx="3562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4D399"/>
                </a:solidFill>
              </a:defRPr>
            </a:pPr>
            <a:r>
              <a:rPr sz="1650" b="1">
                <a:solidFill>
                  <a:srgbClr val="34D399"/>
                </a:solidFill>
              </a:rPr>
              <a:t>Cancel scope: LLM + TTS + playback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B51E60-262E-4C75-B5F9-204A6D5D5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8CA098"/>
                </a:solidFill>
              </a:defRPr>
            </a:pPr>
            <a:r>
              <a:rPr sz="1050" b="1">
                <a:solidFill>
                  <a:srgbClr val="8CA098"/>
                </a:solidFill>
              </a:rPr>
              <a:t>voice-agent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600F64-54AC-4DC7-8937-186683D34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6324600"/>
            <a:ext cx="590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8CA098"/>
                </a:solidFill>
              </a:defRPr>
            </a:pPr>
            <a:r>
              <a:rPr sz="1050" b="0">
                <a:solidFill>
                  <a:srgbClr val="8CA098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87740253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0F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676F32-BECB-4793-A15B-806D809A1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9429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E6EFEB"/>
                </a:solidFill>
              </a:defRPr>
            </a:pPr>
            <a:r>
              <a:rPr sz="2925" b="1">
                <a:solidFill>
                  <a:srgbClr val="E6EFEB"/>
                </a:solidFill>
              </a:rPr>
              <a:t>Barge-in is cancellation plus memory discipline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D6EB5E-9E1A-4F51-B8DB-D1DB220CA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57275"/>
            <a:ext cx="781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8CA098"/>
                </a:solidFill>
              </a:defRPr>
            </a:pPr>
            <a:r>
              <a:rPr sz="1575" b="0">
                <a:solidFill>
                  <a:srgbClr val="8CA098"/>
                </a:solidFill>
              </a:rPr>
              <a:t>Stopping audio is not enough; the conversation state must match what the caller actually heard.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965b0790c84817"/>
          <a:stretch xmlns:a="http://schemas.openxmlformats.org/drawingml/2006/main"/>
        </p:blipFill>
        <p:spPr>
          <a:xfrm xmlns:a="http://schemas.openxmlformats.org/drawingml/2006/main">
            <a:off x="590550" y="1889522"/>
            <a:ext cx="7000875" cy="2450306"/>
          </a:xfrm>
          <a:prstGeom xmlns:a="http://schemas.openxmlformats.org/drawingml/2006/main" prst="roundRect">
            <a:avLst>
              <a:gd name="adj" fmla="val 2516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C84977-60BD-499B-926B-F1A1E4F6C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90700"/>
            <a:ext cx="2743200" cy="2171700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16201D"/>
          </a:solidFill>
          <a:ln xmlns:a="http://schemas.openxmlformats.org/drawingml/2006/main" w="9525">
            <a:solidFill>
              <a:srgbClr val="26322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A84671-44FB-4E90-9856-D698158C1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1145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34D399"/>
                </a:solidFill>
              </a:defRPr>
            </a:pPr>
            <a:r>
              <a:rPr sz="1800" b="1">
                <a:solidFill>
                  <a:srgbClr val="34D399"/>
                </a:solidFill>
              </a:rPr>
              <a:t>Measured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3F661E-72D3-4EA9-96C4-7822147E4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55270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E6EFEB"/>
                </a:solidFill>
              </a:defRPr>
            </a:pPr>
            <a:r>
              <a:rPr sz="2850" b="1">
                <a:solidFill>
                  <a:srgbClr val="E6EFEB"/>
                </a:solidFill>
              </a:rPr>
              <a:t>p50 328ms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113E42-6BB1-4980-9A9B-ADBDD2DDE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028950"/>
            <a:ext cx="200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8CA098"/>
                </a:solidFill>
              </a:defRPr>
            </a:pPr>
            <a:r>
              <a:rPr sz="1350" b="0">
                <a:solidFill>
                  <a:srgbClr val="8CA098"/>
                </a:solidFill>
              </a:rPr>
              <a:t>caller talking over -&gt; last outbound frame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20A0A1-044E-49CA-A352-9C31BC5F5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095875"/>
            <a:ext cx="838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E6EFEB"/>
                </a:solidFill>
              </a:defRPr>
            </a:pPr>
            <a:r>
              <a:rPr sz="1800" b="1">
                <a:solidFill>
                  <a:srgbClr val="E6EFEB"/>
                </a:solidFill>
              </a:rPr>
              <a:t>History matched heard text in 2 of 2 interrupted calls.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5BCD04-8CB4-474B-BCF9-7DCBD3396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8CA098"/>
                </a:solidFill>
              </a:defRPr>
            </a:pPr>
            <a:r>
              <a:rPr sz="1050" b="1">
                <a:solidFill>
                  <a:srgbClr val="8CA098"/>
                </a:solidFill>
              </a:rPr>
              <a:t>voice-agent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0D461D-772E-47DA-9572-B74AE82BF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6324600"/>
            <a:ext cx="590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8CA098"/>
                </a:solidFill>
              </a:defRPr>
            </a:pPr>
            <a:r>
              <a:rPr sz="1050" b="0">
                <a:solidFill>
                  <a:srgbClr val="8CA098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61146719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0F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2F8A63-C00B-4E8A-BDED-3388324EA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838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E6EFEB"/>
                </a:solidFill>
              </a:defRPr>
            </a:pPr>
            <a:r>
              <a:rPr sz="3000" b="1">
                <a:solidFill>
                  <a:srgbClr val="E6EFEB"/>
                </a:solidFill>
              </a:rPr>
              <a:t>The demo domain looks like revenue work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31D594-6F82-449C-8C64-86FF2C36C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04900"/>
            <a:ext cx="857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8CA098"/>
                </a:solidFill>
              </a:defRPr>
            </a:pPr>
            <a:r>
              <a:rPr sz="1650" b="0">
                <a:solidFill>
                  <a:srgbClr val="8CA098"/>
                </a:solidFill>
              </a:rPr>
              <a:t>A builders' merchant sales assistant combines ERP orders, CRM contact history, website behaviour, and visit notes.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77443A-2B63-47B9-93DF-E2BF598C6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95500"/>
            <a:ext cx="243840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111614"/>
          </a:solidFill>
          <a:ln xmlns:a="http://schemas.openxmlformats.org/drawingml/2006/main" w="9525">
            <a:solidFill>
              <a:srgbClr val="26322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43F2F5-4D3C-40CA-B86A-D53BFCC21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81250"/>
            <a:ext cx="198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34D399"/>
                </a:solidFill>
              </a:defRPr>
            </a:pPr>
            <a:r>
              <a:rPr sz="1800" b="1">
                <a:solidFill>
                  <a:srgbClr val="34D399"/>
                </a:solidFill>
              </a:rPr>
              <a:t>ERP orders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8B95BE-61E5-4D4E-BF84-0BF281E21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71800"/>
            <a:ext cx="1924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E6EFEB"/>
                </a:solidFill>
              </a:defRPr>
            </a:pPr>
            <a:r>
              <a:rPr sz="1500" b="0">
                <a:solidFill>
                  <a:srgbClr val="E6EFEB"/>
                </a:solidFill>
              </a:rPr>
              <a:t>reorder cadence, spend trend, category gaps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2BDC41-F84D-47F4-8D10-6BE815CA8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095500"/>
            <a:ext cx="243840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111614"/>
          </a:solidFill>
          <a:ln xmlns:a="http://schemas.openxmlformats.org/drawingml/2006/main" w="9525">
            <a:solidFill>
              <a:srgbClr val="26322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BFF0D3-3028-4D5D-BB56-EA486BB82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381250"/>
            <a:ext cx="198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34D399"/>
                </a:solidFill>
              </a:defRPr>
            </a:pPr>
            <a:r>
              <a:rPr sz="1800" b="1">
                <a:solidFill>
                  <a:srgbClr val="34D399"/>
                </a:solidFill>
              </a:rPr>
              <a:t>CRM history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00078B-AEF7-4FCB-B079-AAE538F24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971800"/>
            <a:ext cx="1924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E6EFEB"/>
                </a:solidFill>
              </a:defRPr>
            </a:pPr>
            <a:r>
              <a:rPr sz="1500" b="0">
                <a:solidFill>
                  <a:srgbClr val="E6EFEB"/>
                </a:solidFill>
              </a:rPr>
              <a:t>contacts, visits, calls, follow-up context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A05DBD-52E4-4BE3-AD1A-B5528F4F2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095500"/>
            <a:ext cx="243840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111614"/>
          </a:solidFill>
          <a:ln xmlns:a="http://schemas.openxmlformats.org/drawingml/2006/main" w="9525">
            <a:solidFill>
              <a:srgbClr val="26322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41D27E-AE49-4C84-81B9-54FA139EE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81250"/>
            <a:ext cx="198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34D399"/>
                </a:solidFill>
              </a:defRPr>
            </a:pPr>
            <a:r>
              <a:rPr sz="1800" b="1">
                <a:solidFill>
                  <a:srgbClr val="34D399"/>
                </a:solidFill>
              </a:rPr>
              <a:t>Web behaviour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5754BD-6D83-44E8-9F7A-D433EBA18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71800"/>
            <a:ext cx="1924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E6EFEB"/>
                </a:solidFill>
              </a:defRPr>
            </a:pPr>
            <a:r>
              <a:rPr sz="1500" b="0">
                <a:solidFill>
                  <a:srgbClr val="E6EFEB"/>
                </a:solidFill>
              </a:rPr>
              <a:t>interest signals for categories not yet bought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2BB3E9-3770-41F9-90B2-CDB7EC5EC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095500"/>
            <a:ext cx="243840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111614"/>
          </a:solidFill>
          <a:ln xmlns:a="http://schemas.openxmlformats.org/drawingml/2006/main" w="9525">
            <a:solidFill>
              <a:srgbClr val="26322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E84F29-DD38-4C09-AA9F-A10429B03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381250"/>
            <a:ext cx="198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34D399"/>
                </a:solidFill>
              </a:defRPr>
            </a:pPr>
            <a:r>
              <a:rPr sz="1800" b="1">
                <a:solidFill>
                  <a:srgbClr val="34D399"/>
                </a:solidFill>
              </a:rPr>
              <a:t>Free-text notes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C67F18-2EC5-4931-AC43-64C9DD401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971800"/>
            <a:ext cx="1924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E6EFEB"/>
                </a:solidFill>
              </a:defRPr>
            </a:pPr>
            <a:r>
              <a:rPr sz="1500" b="0">
                <a:solidFill>
                  <a:srgbClr val="E6EFEB"/>
                </a:solidFill>
              </a:rPr>
              <a:t>promises, competitors, complaints, injected text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CD64C5-8F79-4B30-947E-08FE0D049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7529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0A5FA"/>
          </a:solidFill>
          <a:ln xmlns:a="http://schemas.openxmlformats.org/drawingml/2006/main" w="0">
            <a:solidFill>
              <a:srgbClr val="60A5F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4DF0DA-AF22-4AA6-BCB7-B8DF27D8C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86300"/>
            <a:ext cx="8362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E6EFEB"/>
                </a:solidFill>
              </a:defRPr>
            </a:pPr>
            <a:r>
              <a:rPr sz="1500" b="0">
                <a:solidFill>
                  <a:srgbClr val="E6EFEB"/>
                </a:solidFill>
              </a:rPr>
              <a:t>Peers are never named; gap analysis returns aggregates only.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2146CE-C7CD-4556-891B-C2B77FE55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2101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solidFill>
              <a:srgbClr val="FBBF2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EE74C4-E2FA-4C8D-A38B-1513F70B5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143500"/>
            <a:ext cx="8362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E6EFEB"/>
                </a:solidFill>
              </a:defRPr>
            </a:pPr>
            <a:r>
              <a:rPr sz="1500" b="0">
                <a:solidFill>
                  <a:srgbClr val="E6EFEB"/>
                </a:solidFill>
              </a:rPr>
              <a:t>Prices are never quoted; no pricing tool exists.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8D1AF4-5F2A-4E74-B789-C5DC294BE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6673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7171"/>
          </a:solidFill>
          <a:ln xmlns:a="http://schemas.openxmlformats.org/drawingml/2006/main" w="0">
            <a:solidFill>
              <a:srgbClr val="F8717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98A31FD-8E7E-4A95-82FF-CEAE28EE5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600700"/>
            <a:ext cx="8362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E6EFEB"/>
                </a:solidFill>
              </a:defRPr>
            </a:pPr>
            <a:r>
              <a:rPr sz="1500" b="0">
                <a:solidFill>
                  <a:srgbClr val="E6EFEB"/>
                </a:solidFill>
              </a:rPr>
              <a:t>Account lookup never leaves the configured rep's book.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63F7EC0-4B65-415D-BBDB-8ECB57358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8CA098"/>
                </a:solidFill>
              </a:defRPr>
            </a:pPr>
            <a:r>
              <a:rPr sz="1050" b="1">
                <a:solidFill>
                  <a:srgbClr val="8CA098"/>
                </a:solidFill>
              </a:rPr>
              <a:t>voice-agent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3617EC-CA12-4E1D-BF8A-6971247A4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6324600"/>
            <a:ext cx="590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8CA098"/>
                </a:solidFill>
              </a:defRPr>
            </a:pPr>
            <a:r>
              <a:rPr sz="1050" b="0">
                <a:solidFill>
                  <a:srgbClr val="8CA098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04446203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0F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8D3930-17A6-4491-ACDF-499EA1DD8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933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E6EFEB"/>
                </a:solidFill>
              </a:defRPr>
            </a:pPr>
            <a:r>
              <a:rPr sz="2925" b="1">
                <a:solidFill>
                  <a:srgbClr val="E6EFEB"/>
                </a:solidFill>
              </a:rPr>
              <a:t>Retrieval is measured against how reps actually ask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80D440-9B93-4491-BDCF-C5C764346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66800"/>
            <a:ext cx="790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8CA098"/>
                </a:solidFill>
              </a:defRPr>
            </a:pPr>
            <a:r>
              <a:rPr sz="1575" b="0">
                <a:solidFill>
                  <a:srgbClr val="8CA098"/>
                </a:solidFill>
              </a:rPr>
              <a:t>Two tasks are tracked separately: one-note lookup and topic sweep across a patch.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208DF0-7099-4731-83D0-046E85647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28800"/>
            <a:ext cx="468630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16201D"/>
          </a:solidFill>
          <a:ln xmlns:a="http://schemas.openxmlformats.org/drawingml/2006/main" w="9525">
            <a:solidFill>
              <a:srgbClr val="26322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B18752-6568-492C-A857-050C7E867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717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34D399"/>
                </a:solidFill>
              </a:defRPr>
            </a:pPr>
            <a:r>
              <a:rPr sz="2100" b="1">
                <a:solidFill>
                  <a:srgbClr val="34D399"/>
                </a:solidFill>
              </a:rPr>
              <a:t>Lookup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EFA4E1-B6B7-4F04-A650-76CAB5506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686050"/>
            <a:ext cx="152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E6EFEB"/>
                </a:solidFill>
              </a:defRPr>
            </a:pPr>
            <a:r>
              <a:rPr sz="3900" b="1">
                <a:solidFill>
                  <a:srgbClr val="E6EFEB"/>
                </a:solidFill>
              </a:rPr>
              <a:t>72%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55BD53-5D31-4E8C-ABA5-1576273EF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3337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8CA098"/>
                </a:solidFill>
              </a:defRPr>
            </a:pPr>
            <a:r>
              <a:rPr sz="1575" b="0">
                <a:solidFill>
                  <a:srgbClr val="8CA098"/>
                </a:solidFill>
              </a:rPr>
              <a:t>recall@3 for paraphrased questions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5F8E09-1AD6-4077-AB5F-13F6ACE7D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828800"/>
            <a:ext cx="468630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16201D"/>
          </a:solidFill>
          <a:ln xmlns:a="http://schemas.openxmlformats.org/drawingml/2006/main" w="9525">
            <a:solidFill>
              <a:srgbClr val="26322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228CEF-6169-48C4-BD87-AFF46CDCC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1717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34D399"/>
                </a:solidFill>
              </a:defRPr>
            </a:pPr>
            <a:r>
              <a:rPr sz="2100" b="1">
                <a:solidFill>
                  <a:srgbClr val="34D399"/>
                </a:solidFill>
              </a:rPr>
              <a:t>Sweep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1C0F34-7B88-4CB6-B7E2-A43C92DD1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86050"/>
            <a:ext cx="152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E6EFEB"/>
                </a:solidFill>
              </a:defRPr>
            </a:pPr>
            <a:r>
              <a:rPr sz="3900" b="1">
                <a:solidFill>
                  <a:srgbClr val="E6EFEB"/>
                </a:solidFill>
              </a:rPr>
              <a:t>73%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A3363E-508D-4229-AD3D-723F175B1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3337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8CA098"/>
                </a:solidFill>
              </a:defRPr>
            </a:pPr>
            <a:r>
              <a:rPr sz="1575" b="0">
                <a:solidFill>
                  <a:srgbClr val="8CA098"/>
                </a:solidFill>
              </a:rPr>
              <a:t>hit@3 for competitor/topic searches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AFC5A4-5E9D-4960-B9C4-40BA918BE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9149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E6EFEB"/>
                </a:solidFill>
              </a:defRPr>
            </a:pPr>
            <a:r>
              <a:rPr sz="1800" b="0">
                <a:solidFill>
                  <a:srgbClr val="E6EFEB"/>
                </a:solidFill>
              </a:rPr>
              <a:t>AND search found 1 of 80 lookup probes; the shipped query expands terms because spoken questions are messy.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ACCF52-D578-4813-975B-A7797A7DD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8CA098"/>
                </a:solidFill>
              </a:defRPr>
            </a:pPr>
            <a:r>
              <a:rPr sz="1050" b="1">
                <a:solidFill>
                  <a:srgbClr val="8CA098"/>
                </a:solidFill>
              </a:rPr>
              <a:t>voice-agent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4A0FE9-5061-4A11-B0FA-1B300ACA6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6324600"/>
            <a:ext cx="590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8CA098"/>
                </a:solidFill>
              </a:defRPr>
            </a:pPr>
            <a:r>
              <a:rPr sz="1050" b="0">
                <a:solidFill>
                  <a:srgbClr val="8CA098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7156753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0F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7FDEDA-3493-4F18-ADF3-B64F375F5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981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E6EFEB"/>
                </a:solidFill>
              </a:defRPr>
            </a:pPr>
            <a:r>
              <a:rPr sz="2850" b="1">
                <a:solidFill>
                  <a:srgbClr val="E6EFEB"/>
                </a:solidFill>
              </a:rPr>
              <a:t>The eval suite tests the agent and the voice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CFBF0D-96EF-4A79-AB93-67555BBDB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66800"/>
            <a:ext cx="933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8CA098"/>
                </a:solidFill>
              </a:defRPr>
            </a:pPr>
            <a:r>
              <a:rPr sz="1575" b="0">
                <a:solidFill>
                  <a:srgbClr val="8CA098"/>
                </a:solidFill>
              </a:rPr>
              <a:t>Text mode is fast enough for reasoning regressions; audio mode exercises the real VAD, endpointer, echo gate, and barge-in.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1df9780e9d45fc"/>
          <a:stretch xmlns:a="http://schemas.openxmlformats.org/drawingml/2006/main"/>
        </p:blipFill>
        <p:spPr>
          <a:xfrm xmlns:a="http://schemas.openxmlformats.org/drawingml/2006/main">
            <a:off x="590550" y="1716881"/>
            <a:ext cx="7239000" cy="2262188"/>
          </a:xfrm>
          <a:prstGeom xmlns:a="http://schemas.openxmlformats.org/drawingml/2006/main" prst="roundRect">
            <a:avLst>
              <a:gd name="adj" fmla="val 3361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EE8DC8-BD54-4B05-BB5F-77D472DCF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95450"/>
            <a:ext cx="2628900" cy="236220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16201D"/>
          </a:solidFill>
          <a:ln xmlns:a="http://schemas.openxmlformats.org/drawingml/2006/main" w="9525">
            <a:solidFill>
              <a:srgbClr val="26322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DE14A8-E5EA-4331-AEA3-927475440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019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34D399"/>
                </a:solidFill>
              </a:defRPr>
            </a:pPr>
            <a:r>
              <a:rPr sz="1575" b="1">
                <a:solidFill>
                  <a:srgbClr val="34D399"/>
                </a:solidFill>
              </a:rPr>
              <a:t>Last recorded text eval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126CB7-578D-48E6-A0C5-71C293ED5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47650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E6EFEB"/>
                </a:solidFill>
              </a:defRPr>
            </a:pPr>
            <a:r>
              <a:rPr sz="3600" b="1">
                <a:solidFill>
                  <a:srgbClr val="E6EFEB"/>
                </a:solidFill>
              </a:rPr>
              <a:t>25 / 33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3CCE4D-ECDD-4C16-ADE7-15124D003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105150"/>
            <a:ext cx="1905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8CA098"/>
                </a:solidFill>
              </a:defRPr>
            </a:pPr>
            <a:r>
              <a:rPr sz="1350" b="0">
                <a:solidFill>
                  <a:srgbClr val="8CA098"/>
                </a:solidFill>
              </a:rPr>
              <a:t>three runs with claude-haiku-4-5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20475A-29B4-4F84-8B32-9C11130A2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5815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0A5FA"/>
          </a:solidFill>
          <a:ln xmlns:a="http://schemas.openxmlformats.org/drawingml/2006/main" w="0">
            <a:solidFill>
              <a:srgbClr val="60A5F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1CB219-B412-4F5C-B89C-D3D49BE53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514850"/>
            <a:ext cx="8172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E6EFEB"/>
                </a:solidFill>
              </a:defRPr>
            </a:pPr>
            <a:r>
              <a:rPr sz="1500" b="0">
                <a:solidFill>
                  <a:srgbClr val="E6EFEB"/>
                </a:solidFill>
              </a:rPr>
              <a:t>Scenario YAML drives simulated caller behaviour.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4950F3-53E3-4D80-8F9B-5BA946B4C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0387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34D39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87F510-228D-4819-BC02-51C8AC264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972050"/>
            <a:ext cx="8743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E6EFEB"/>
                </a:solidFill>
              </a:defRPr>
            </a:pPr>
            <a:r>
              <a:rPr sz="1500" b="0">
                <a:solidFill>
                  <a:srgbClr val="E6EFEB"/>
                </a:solidFill>
              </a:rPr>
              <a:t>Deterministic checks cover tools, facts, leaks, and refusal cases.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842FC5-31B6-45AE-B14D-959EBAF53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4959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solidFill>
              <a:srgbClr val="FBBF2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E3566F-595A-424B-81E4-787B511FF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429250"/>
            <a:ext cx="8553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E6EFEB"/>
                </a:solidFill>
              </a:defRPr>
            </a:pPr>
            <a:r>
              <a:rPr sz="1500" b="0">
                <a:solidFill>
                  <a:srgbClr val="E6EFEB"/>
                </a:solidFill>
              </a:rPr>
              <a:t>Fault injection covers ASR blanking, LLM stalls, and TTS failures.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20B589-E130-4910-AF30-DF0E8D05D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8CA098"/>
                </a:solidFill>
              </a:defRPr>
            </a:pPr>
            <a:r>
              <a:rPr sz="1050" b="1">
                <a:solidFill>
                  <a:srgbClr val="8CA098"/>
                </a:solidFill>
              </a:rPr>
              <a:t>voice-agent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22E7AC-F6ED-4744-B559-A8C9C92B3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6324600"/>
            <a:ext cx="590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8CA098"/>
                </a:solidFill>
              </a:defRPr>
            </a:pPr>
            <a:r>
              <a:rPr sz="1050" b="0">
                <a:solidFill>
                  <a:srgbClr val="8CA098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63045586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0F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D17086-3E65-4197-928D-FAD666C8D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981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E6EFEB"/>
                </a:solidFill>
              </a:defRPr>
            </a:pPr>
            <a:r>
              <a:rPr sz="2775" b="1">
                <a:solidFill>
                  <a:srgbClr val="E6EFEB"/>
                </a:solidFill>
              </a:rPr>
              <a:t>The project got stronger when measurements contradicted it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068b0c389b4489">
            <a:extLst>
              <a:ext uri="{96DAC541-7B7A-43D3-8B79-37D633B846F1}">
                <asvg:svgBlip xmlns:asvg="http://schemas.microsoft.com/office/drawing/2016/SVG/main" r:embed="Rbafda0e3d6a44dc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5800" y="1521143"/>
            <a:ext cx="5295900" cy="1721168"/>
          </a:xfrm>
          <a:prstGeom xmlns:a="http://schemas.openxmlformats.org/drawingml/2006/main" prst="roundRect">
            <a:avLst>
              <a:gd name="adj" fmla="val 3810"/>
            </a:avLst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d23b30927c47e3"/>
          <a:stretch xmlns:a="http://schemas.openxmlformats.org/drawingml/2006/main"/>
        </p:blipFill>
        <p:spPr>
          <a:xfrm xmlns:a="http://schemas.openxmlformats.org/drawingml/2006/main">
            <a:off x="6324600" y="1521143"/>
            <a:ext cx="5295900" cy="1853565"/>
          </a:xfrm>
          <a:prstGeom xmlns:a="http://schemas.openxmlformats.org/drawingml/2006/main" prst="roundRect">
            <a:avLst>
              <a:gd name="adj" fmla="val 3810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C081C4-A50F-43CD-96E0-E25024E85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1624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solidFill>
              <a:srgbClr val="FBBF2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6B4587-5984-4866-90BB-CE4A43C29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95750"/>
            <a:ext cx="8934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E6EFEB"/>
                </a:solidFill>
              </a:defRPr>
            </a:pPr>
            <a:r>
              <a:rPr sz="1500" b="0">
                <a:solidFill>
                  <a:srgbClr val="E6EFEB"/>
                </a:solidFill>
              </a:rPr>
              <a:t>250ms endpointing looked fast, but cut callers off on 10 of 30 turns.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902E49-EC64-4953-93EC-1535ED973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6767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7171"/>
          </a:solidFill>
          <a:ln xmlns:a="http://schemas.openxmlformats.org/drawingml/2006/main" w="0">
            <a:solidFill>
              <a:srgbClr val="F8717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37D24F-9B93-44B5-BAF0-F92632ABB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10100"/>
            <a:ext cx="8934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E6EFEB"/>
                </a:solidFill>
              </a:defRPr>
            </a:pPr>
            <a:r>
              <a:rPr sz="1500" b="0">
                <a:solidFill>
                  <a:srgbClr val="E6EFEB"/>
                </a:solidFill>
              </a:rPr>
              <a:t>First-audio once measured the last outbound frame and even went negative.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BB54A0-BF29-4450-ABCA-F6B116758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1911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34D39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E10BCC-2D28-4D72-8B12-DCD0B1A04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124450"/>
            <a:ext cx="8934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E6EFEB"/>
                </a:solidFill>
              </a:defRPr>
            </a:pPr>
            <a:r>
              <a:rPr sz="1500" b="0">
                <a:solidFill>
                  <a:srgbClr val="E6EFEB"/>
                </a:solidFill>
              </a:rPr>
              <a:t>A red-team note relayed a fake discount with all unit tests green.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BDFD87-C2A7-48B0-8617-66C642B8B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8293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34D399"/>
                </a:solidFill>
              </a:defRPr>
            </a:pPr>
            <a:r>
              <a:rPr sz="1800" b="1">
                <a:solidFill>
                  <a:srgbClr val="34D399"/>
                </a:solidFill>
              </a:rPr>
              <a:t>The strongest claim is not “we measured it”; it is “we found where the measurement lied.”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00AE7D-42D5-4C29-A357-C1461EB9D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8CA098"/>
                </a:solidFill>
              </a:defRPr>
            </a:pPr>
            <a:r>
              <a:rPr sz="1050" b="1">
                <a:solidFill>
                  <a:srgbClr val="8CA098"/>
                </a:solidFill>
              </a:rPr>
              <a:t>voice-agent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5F187A-AD1B-459D-95DA-A0CEB88C3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6324600"/>
            <a:ext cx="590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8CA098"/>
                </a:solidFill>
              </a:defRPr>
            </a:pPr>
            <a:r>
              <a:rPr sz="1050" b="0">
                <a:solidFill>
                  <a:srgbClr val="8CA098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14350624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2026-08-05T13:35:22.1230000Z</dcterms:created>
  <dcterms:modified xsi:type="dcterms:W3CDTF">2026-08-05T13:35:22.1230000Z</dcterms:modified>
</coreProperties>
</file>
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b0afd702b5439f" /><Relationship Type="http://schemas.openxmlformats.org/officeDocument/2006/relationships/extended-properties" Target="/docProps/app.xml" Id="R732a4856577f4ccb" /><Relationship Type="http://schemas.openxmlformats.org/officeDocument/2006/relationships/officeDocument" Target="/ppt/presentation.xml" Id="R4b984156d7c2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41321a0b2a4aa2"/>
  </p:sldMasterIdLst>
  <p:notesMasterIdLst>
    <p:notesMasterId xmlns:r="http://schemas.openxmlformats.org/officeDocument/2006/relationships" r:id="Rd85f4e626f404e1e"/>
  </p:notesMasterIdLst>
  <p:sldIdLst>
    <p:sldId xmlns:r="http://schemas.openxmlformats.org/officeDocument/2006/relationships" id="256" r:id="R9f92796f55d0424b"/>
    <p:sldId xmlns:r="http://schemas.openxmlformats.org/officeDocument/2006/relationships" id="257" r:id="Reaa9c29aea71493f"/>
    <p:sldId xmlns:r="http://schemas.openxmlformats.org/officeDocument/2006/relationships" id="258" r:id="Rc583b32841bb4015"/>
    <p:sldId xmlns:r="http://schemas.openxmlformats.org/officeDocument/2006/relationships" id="259" r:id="Rd4241c624cd24abf"/>
    <p:sldId xmlns:r="http://schemas.openxmlformats.org/officeDocument/2006/relationships" id="260" r:id="Rdaf7acc8a46d4e6e"/>
    <p:sldId xmlns:r="http://schemas.openxmlformats.org/officeDocument/2006/relationships" id="261" r:id="Rb970cdfc0f7c48d4"/>
    <p:sldId xmlns:r="http://schemas.openxmlformats.org/officeDocument/2006/relationships" id="262" r:id="Rbb94438f50f94b2a"/>
    <p:sldId xmlns:r="http://schemas.openxmlformats.org/officeDocument/2006/relationships" id="263" r:id="Rafb91d132e414a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8b366dba684082" /><Relationship Type="http://schemas.openxmlformats.org/officeDocument/2006/relationships/slideMaster" Target="/ppt/slideMasters/slideMaster1.xml" Id="R6141321a0b2a4aa2" /><Relationship Type="http://schemas.openxmlformats.org/officeDocument/2006/relationships/notesMaster" Target="/ppt/notesMasters/notesMaster1.xml" Id="Rd85f4e626f404e1e" /><Relationship Type="http://schemas.openxmlformats.org/officeDocument/2006/relationships/presProps" Target="/ppt/presProps.xml" Id="R6302f407699f4d79" /><Relationship Type="http://schemas.openxmlformats.org/officeDocument/2006/relationships/tableStyles" Target="/ppt/tableStyles.xml" Id="R81c59909fe0d4116" /><Relationship Type="http://schemas.openxmlformats.org/officeDocument/2006/relationships/slide" Target="/ppt/slides/slide1.xml" Id="R9f92796f55d0424b" /><Relationship Type="http://schemas.openxmlformats.org/officeDocument/2006/relationships/slide" Target="/ppt/slides/slide2.xml" Id="Reaa9c29aea71493f" /><Relationship Type="http://schemas.openxmlformats.org/officeDocument/2006/relationships/slide" Target="/ppt/slides/slide3.xml" Id="Rc583b32841bb4015" /><Relationship Type="http://schemas.openxmlformats.org/officeDocument/2006/relationships/slide" Target="/ppt/slides/slide4.xml" Id="Rd4241c624cd24abf" /><Relationship Type="http://schemas.openxmlformats.org/officeDocument/2006/relationships/slide" Target="/ppt/slides/slide5.xml" Id="Rdaf7acc8a46d4e6e" /><Relationship Type="http://schemas.openxmlformats.org/officeDocument/2006/relationships/slide" Target="/ppt/slides/slide6.xml" Id="Rb970cdfc0f7c48d4" /><Relationship Type="http://schemas.openxmlformats.org/officeDocument/2006/relationships/slide" Target="/ppt/slides/slide7.xml" Id="Rbb94438f50f94b2a" /><Relationship Type="http://schemas.openxmlformats.org/officeDocument/2006/relationships/slide" Target="/ppt/slides/slide8.xml" Id="Rafb91d132e414a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9b63837b6746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af6cc60ee44e9a" /><Relationship Type="http://schemas.openxmlformats.org/officeDocument/2006/relationships/notesMaster" Target="/ppt/notesMasters/notesMaster1.xml" Id="R5e819152d03446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a7fdbc333c4b03" /><Relationship Type="http://schemas.openxmlformats.org/officeDocument/2006/relationships/notesMaster" Target="/ppt/notesMasters/notesMaster1.xml" Id="Ra15386f10650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c13cf7e3334536" /><Relationship Type="http://schemas.openxmlformats.org/officeDocument/2006/relationships/notesMaster" Target="/ppt/notesMasters/notesMaster1.xml" Id="R1880ef8759e04a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7b0a3f051a482d" /><Relationship Type="http://schemas.openxmlformats.org/officeDocument/2006/relationships/notesMaster" Target="/ppt/notesMasters/notesMaster1.xml" Id="Ra1becceaace9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8cb67b03f14999" /><Relationship Type="http://schemas.openxmlformats.org/officeDocument/2006/relationships/notesMaster" Target="/ppt/notesMasters/notesMaster1.xml" Id="R252b5948b0f041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9da2a80fcd4a23" /><Relationship Type="http://schemas.openxmlformats.org/officeDocument/2006/relationships/notesMaster" Target="/ppt/notesMasters/notesMaster1.xml" Id="R764a1f6f437044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6171416e9d4029" /><Relationship Type="http://schemas.openxmlformats.org/officeDocument/2006/relationships/notesMaster" Target="/ppt/notesMasters/notesMaster1.xml" Id="Rd455f6fb9c6541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31a7eb69694fb9" /><Relationship Type="http://schemas.openxmlformats.org/officeDocument/2006/relationships/notesMaster" Target="/ppt/notesMasters/notesMaster1.xml" Id="R3054f28723d14e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5109066a64e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ec42ac969a402f" /><Relationship Type="http://schemas.openxmlformats.org/officeDocument/2006/relationships/slideLayout" Target="/ppt/slideLayouts/slideLayout1.xml" Id="R08380b6a0d934c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380b6a0d934c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498b0b6ab441a" /><Relationship Type="http://schemas.openxmlformats.org/officeDocument/2006/relationships/image" Target="/ppt/media/image.png" Id="Rbc1fcddd2da04a47" /><Relationship Type="http://schemas.openxmlformats.org/officeDocument/2006/relationships/notesSlide" Target="/ppt/notesSlides/notesSlide1.xml" Id="R01a310a4250a43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4bb6dfea441bb" /><Relationship Type="http://schemas.openxmlformats.org/officeDocument/2006/relationships/notesSlide" Target="/ppt/notesSlides/notesSlide2.xml" Id="R6721d97d1c4242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ba4d987eb4b04" /><Relationship Type="http://schemas.openxmlformats.org/officeDocument/2006/relationships/image" Target="/ppt/media/image2.png" Id="Rc0ae416044a24f52" /><Relationship Type="http://schemas.openxmlformats.org/officeDocument/2006/relationships/notesSlide" Target="/ppt/notesSlides/notesSlide3.xml" Id="Re2085072c3e446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63f60a5584205" /><Relationship Type="http://schemas.openxmlformats.org/officeDocument/2006/relationships/image" Target="/ppt/media/image3.png" Id="R5bcb98c25e49495f" /><Relationship Type="http://schemas.openxmlformats.org/officeDocument/2006/relationships/notesSlide" Target="/ppt/notesSlides/notesSlide4.xml" Id="R8a4040775b73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6f09769d44dce" /><Relationship Type="http://schemas.openxmlformats.org/officeDocument/2006/relationships/notesSlide" Target="/ppt/notesSlides/notesSlide5.xml" Id="R3a2de897d6c74f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18efd844e4213" /><Relationship Type="http://schemas.openxmlformats.org/officeDocument/2006/relationships/notesSlide" Target="/ppt/notesSlides/notesSlide6.xml" Id="Rf42b281a206d4e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7dec8510e4fde" /><Relationship Type="http://schemas.openxmlformats.org/officeDocument/2006/relationships/image" Target="/ppt/media/image4.png" Id="Rf152cff4ee6a43aa" /><Relationship Type="http://schemas.openxmlformats.org/officeDocument/2006/relationships/notesSlide" Target="/ppt/notesSlides/notesSlide7.xml" Id="Rc6b23ad5875443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42b9bf2434090" /><Relationship Type="http://schemas.openxmlformats.org/officeDocument/2006/relationships/image" Target="/ppt/media/image5.png" Id="R89f40af0cb1148ba" /><Relationship Type="http://schemas.openxmlformats.org/officeDocument/2006/relationships/image" Target="/ppt/media/image6.png" Id="R670fb9b2527d426f" /><Relationship Type="http://schemas.openxmlformats.org/officeDocument/2006/relationships/notesSlide" Target="/ppt/notesSlides/notesSlide8.xml" Id="R0f7e3624761a40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fcddd2da04a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962400"/>
          </a:xfrm>
          <a:prstGeom xmlns:a="http://schemas.openxmlformats.org/drawingml/2006/main" prst="roundRect">
            <a:avLst>
              <a:gd name="adj" fmla="val 192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E9C94-E1B9-42A7-9CF2-11E49D4C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819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E6EFEB"/>
                </a:solidFill>
              </a:defRPr>
            </a:pPr>
            <a:r>
              <a:rPr sz="3750" b="1">
                <a:solidFill>
                  <a:srgbClr val="E6EFEB"/>
                </a:solidFill>
              </a:rPr>
              <a:t>A measured voice-agent system, not a stitched-together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E75A3-0CC6-40D6-95D6-7AD0C8C1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8CA098"/>
                </a:solidFill>
              </a:defRPr>
            </a:pPr>
            <a:r>
              <a:rPr sz="1650" b="0">
                <a:solidFill>
                  <a:srgbClr val="8CA098"/>
                </a:solidFill>
              </a:rPr>
              <a:t>Streaming audio, LangGraph tools, barge-in, spoken memory, and simulation-based evaluation.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7E4E8-8E88-495A-9276-35F2A3A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05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4D399"/>
                </a:solidFill>
              </a:defRPr>
            </a:pPr>
            <a:r>
              <a:rPr sz="1350" b="1">
                <a:solidFill>
                  <a:srgbClr val="34D399"/>
                </a:solidFill>
              </a:rPr>
              <a:t>Project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5F20A-E25D-412C-9072-BA4EEDF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16764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B6744-EF3C-494E-B0DF-D6F73FE2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9750"/>
            <a:ext cx="1352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CA098"/>
                </a:solidFill>
              </a:defRPr>
            </a:pPr>
            <a:r>
              <a:rPr sz="750">
                <a:solidFill>
                  <a:srgbClr val="8CA098"/>
                </a:solidFill>
              </a:rPr>
              <a:t>Barge-in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15AB7-3BB0-46C3-A7E9-775EB650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716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4D399"/>
                </a:solidFill>
              </a:defRPr>
            </a:pPr>
            <a:r>
              <a:rPr sz="1050">
                <a:solidFill>
                  <a:srgbClr val="34D399"/>
                </a:solidFill>
              </a:rPr>
              <a:t>p50 328ms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E5ABE-4DB6-41D6-B890-6EC2414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12954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85200-27D8-49B6-8090-01FCC6BC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1028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CA098"/>
                </a:solidFill>
              </a:defRPr>
            </a:pPr>
            <a:r>
              <a:rPr sz="750">
                <a:solidFill>
                  <a:srgbClr val="8CA098"/>
                </a:solidFill>
              </a:rPr>
              <a:t>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F5A7-EA43-4866-BD2E-E9357373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4D399"/>
                </a:solidFill>
              </a:defRPr>
            </a:pPr>
            <a:r>
              <a:rPr sz="1050">
                <a:solidFill>
                  <a:srgbClr val="34D399"/>
                </a:solidFill>
              </a:rPr>
              <a:t>run suite</a:t>
            </a:r>
          </a:p>
        </p:txBody>
      </p:sp>
    </p:spTree>
    <p:extLst>
      <p:ext uri="{BB962C8B-B14F-4D97-AF65-F5344CB8AC3E}">
        <p14:creationId xmlns:p14="http://schemas.microsoft.com/office/powerpoint/2010/main" val="782448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645A4-89E8-4DB1-B37F-25FC740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E6EFEB"/>
                </a:solidFill>
              </a:defRPr>
            </a:pPr>
            <a:r>
              <a:rPr sz="3075" b="1">
                <a:solidFill>
                  <a:srgbClr val="E6EFEB"/>
                </a:solidFill>
              </a:rPr>
              <a:t>The hard part is the call, not just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72923-6703-4841-8B41-779DDFD4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B2E42-7DE3-478F-A3B9-CED611EA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8CA098"/>
                </a:solidFill>
              </a:defRPr>
            </a:pPr>
            <a:r>
              <a:rPr sz="1875" b="0">
                <a:solidFill>
                  <a:srgbClr val="8CA098"/>
                </a:solidFill>
              </a:rPr>
              <a:t>Most voice demos work until a real caller pauses, talks over the agent, or asks for something the backend must constrain.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C8B45-38E3-4CA9-84EF-BDCE5BF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A82C9-9B26-4E35-8E3E-E03D079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6EFEB"/>
                </a:solidFill>
              </a:defRPr>
            </a:pPr>
            <a:r>
              <a:rPr sz="1650" b="0">
                <a:solidFill>
                  <a:srgbClr val="E6EFEB"/>
                </a:solidFill>
              </a:rPr>
              <a:t>20ms audio frames arrive whether the model is ready or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9EAD7-3C4F-48FA-A1A6-BC05D3D5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49315-347F-426B-9806-ACB6C21E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6EFEB"/>
                </a:solidFill>
              </a:defRPr>
            </a:pPr>
            <a:r>
              <a:rPr sz="1650" b="0">
                <a:solidFill>
                  <a:srgbClr val="E6EFEB"/>
                </a:solidFill>
              </a:rPr>
              <a:t>Endpointing trades latency against cutting people 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079FB-3C53-4B14-BDCE-7E0E9E22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C500C-1B39-4E0B-B23A-7DC00A12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6EFEB"/>
                </a:solidFill>
              </a:defRPr>
            </a:pPr>
            <a:r>
              <a:rPr sz="1650" b="0">
                <a:solidFill>
                  <a:srgbClr val="E6EFEB"/>
                </a:solidFill>
              </a:rPr>
              <a:t>Barge-in only works if reception and playback do not fight over the socket.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123D3-A23A-46F1-8F16-00EA8E0A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3D266-9983-4138-8A4F-34D7AF45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664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6EFEB"/>
                </a:solidFill>
              </a:defRPr>
            </a:pPr>
            <a:r>
              <a:rPr sz="1650" b="0">
                <a:solidFill>
                  <a:srgbClr val="E6EFEB"/>
                </a:solidFill>
              </a:rPr>
              <a:t>Memory must record what was heard, not what was generated.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6D975-FED7-4C0E-910D-EA6A4369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2724150" cy="30289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F27E2-AD7A-40BA-935A-3387FE8D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Design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CF9A8-97E2-4E28-A68A-37407663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0764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E6EFEB"/>
                </a:solidFill>
              </a:defRPr>
            </a:pPr>
            <a:r>
              <a:rPr sz="1875" b="0">
                <a:solidFill>
                  <a:srgbClr val="E6EFEB"/>
                </a:solidFill>
              </a:rPr>
              <a:t>Keep the audio loop plain and measurable. Let LangGraph reason, but never own frame timing.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4D095-F92F-4EA0-8A95-E19BAD2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A098"/>
                </a:solidFill>
              </a:defRPr>
            </a:pPr>
            <a:r>
              <a:rPr sz="1050" b="1">
                <a:solidFill>
                  <a:srgbClr val="8CA098"/>
                </a:solidFill>
              </a:rPr>
              <a:t>voice-agent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DF7BA-7C14-448F-B901-12CC977B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2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CA098"/>
                </a:solidFill>
              </a:defRPr>
            </a:pPr>
            <a:r>
              <a:rPr sz="1050" b="0">
                <a:solidFill>
                  <a:srgbClr val="8CA0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2181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5A81E-D230-4708-BD6E-B98AF5EE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E6EFEB"/>
                </a:solidFill>
              </a:defRPr>
            </a:pPr>
            <a:r>
              <a:rPr sz="3000" b="1">
                <a:solidFill>
                  <a:srgbClr val="E6EFEB"/>
                </a:solidFill>
              </a:rPr>
              <a:t>One receive owner keeps the audio path honest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E73E0-46C2-47A1-BD26-ED79A13F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CA098"/>
                </a:solidFill>
              </a:defRPr>
            </a:pPr>
            <a:r>
              <a:rPr sz="1575" b="0">
                <a:solidFill>
                  <a:srgbClr val="8CA098"/>
                </a:solidFill>
              </a:rPr>
              <a:t>RxPump owns inbound audio; downstream consumers read frames, not the socket.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e416044a24f52"/>
          <a:stretch xmlns:a="http://schemas.openxmlformats.org/drawingml/2006/main"/>
        </p:blipFill>
        <p:spPr>
          <a:xfrm xmlns:a="http://schemas.openxmlformats.org/drawingml/2006/main">
            <a:off x="476250" y="1528763"/>
            <a:ext cx="11239500" cy="3933825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7F8C0-0E7C-4E70-9CD0-E4E9F8E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356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4D399"/>
                </a:solidFill>
              </a:defRPr>
            </a:pPr>
            <a:r>
              <a:rPr sz="1650" b="1">
                <a:solidFill>
                  <a:srgbClr val="34D399"/>
                </a:solidFill>
              </a:rPr>
              <a:t>Cancel scope: LLM + TTS + playback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51E60-262E-4C75-B5F9-204A6D5D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A098"/>
                </a:solidFill>
              </a:defRPr>
            </a:pPr>
            <a:r>
              <a:rPr sz="1050" b="1">
                <a:solidFill>
                  <a:srgbClr val="8CA098"/>
                </a:solidFill>
              </a:rPr>
              <a:t>voice-agent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00F64-54AC-4DC7-8937-186683D3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2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CA098"/>
                </a:solidFill>
              </a:defRPr>
            </a:pPr>
            <a:r>
              <a:rPr sz="1050" b="0">
                <a:solidFill>
                  <a:srgbClr val="8CA0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7402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76F32-BECB-4793-A15B-806D809A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E6EFEB"/>
                </a:solidFill>
              </a:defRPr>
            </a:pPr>
            <a:r>
              <a:rPr sz="2925" b="1">
                <a:solidFill>
                  <a:srgbClr val="E6EFEB"/>
                </a:solidFill>
              </a:rPr>
              <a:t>Barge-in is cancellation plus memory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6EB5E-9E1A-4F51-B8DB-D1DB220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CA098"/>
                </a:solidFill>
              </a:defRPr>
            </a:pPr>
            <a:r>
              <a:rPr sz="1575" b="0">
                <a:solidFill>
                  <a:srgbClr val="8CA098"/>
                </a:solidFill>
              </a:rPr>
              <a:t>Stopping audio is not enough; the conversation state must match what the caller actually heard.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b98c25e49495f"/>
          <a:stretch xmlns:a="http://schemas.openxmlformats.org/drawingml/2006/main"/>
        </p:blipFill>
        <p:spPr>
          <a:xfrm xmlns:a="http://schemas.openxmlformats.org/drawingml/2006/main">
            <a:off x="590550" y="1889522"/>
            <a:ext cx="7000875" cy="2450306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84977-60BD-499B-926B-F1A1E4F6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27432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84671-44FB-4E90-9856-D698158C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Measured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F661E-72D3-4EA9-96C4-7822147E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6EFEB"/>
                </a:solidFill>
              </a:defRPr>
            </a:pPr>
            <a:r>
              <a:rPr sz="2850" b="1">
                <a:solidFill>
                  <a:srgbClr val="E6EFEB"/>
                </a:solidFill>
              </a:rPr>
              <a:t>p50 328ms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13E42-6BB1-4980-9A9B-ADBDD2D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CA098"/>
                </a:solidFill>
              </a:defRPr>
            </a:pPr>
            <a:r>
              <a:rPr sz="1350" b="0">
                <a:solidFill>
                  <a:srgbClr val="8CA098"/>
                </a:solidFill>
              </a:rPr>
              <a:t>caller talking over -&gt; last outbound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0A0A1-044E-49CA-A352-9C31BC5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6EFEB"/>
                </a:solidFill>
              </a:defRPr>
            </a:pPr>
            <a:r>
              <a:rPr sz="1800" b="1">
                <a:solidFill>
                  <a:srgbClr val="E6EFEB"/>
                </a:solidFill>
              </a:rPr>
              <a:t>History matched heard text in 2 of 2 interrupted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BCD04-8CB4-474B-BCF9-7DCBD33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A098"/>
                </a:solidFill>
              </a:defRPr>
            </a:pPr>
            <a:r>
              <a:rPr sz="1050" b="1">
                <a:solidFill>
                  <a:srgbClr val="8CA098"/>
                </a:solidFill>
              </a:rPr>
              <a:t>voice-agent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D461D-772E-47DA-9572-B74AE82B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2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CA098"/>
                </a:solidFill>
              </a:defRPr>
            </a:pPr>
            <a:r>
              <a:rPr sz="1050" b="0">
                <a:solidFill>
                  <a:srgbClr val="8CA09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1467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F8A63-C00B-4E8A-BDED-3388324E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E6EFEB"/>
                </a:solidFill>
              </a:defRPr>
            </a:pPr>
            <a:r>
              <a:rPr sz="3000" b="1">
                <a:solidFill>
                  <a:srgbClr val="E6EFEB"/>
                </a:solidFill>
              </a:rPr>
              <a:t>The demo domain looks like revenue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1D594-6F82-449C-8C64-86FF2C36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8CA098"/>
                </a:solidFill>
              </a:defRPr>
            </a:pPr>
            <a:r>
              <a:rPr sz="1650" b="0">
                <a:solidFill>
                  <a:srgbClr val="8CA098"/>
                </a:solidFill>
              </a:rPr>
              <a:t>A builders' merchant sales assistant combines ERP orders, CRM contact history, website behaviour, and visit notes.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7443A-2B63-47B9-93DF-E2BF598C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438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614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3F2F5-4D3C-40CA-B86A-D53BFCC2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ERP orders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B95BE-61E5-4D4E-BF84-0BF281E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reorder cadence, spend trend, category gaps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DC41-F84D-47F4-8D10-6BE815CA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438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614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FF0D3-3028-4D5D-BB56-EA486BB8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CRM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0078B-AEF7-4FCB-B079-AAE538F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contacts, visits, calls, follow-up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05DBD-52E4-4BE3-AD1A-B5528F4F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2438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614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1D27E-AE49-4C84-81B9-54FA139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Web behaviour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754BD-6D83-44E8-9F7A-D433EBA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interest signals for categories not yet bought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BB3E9-3770-41F9-90B2-CDB7EC5E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438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1614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84F29-DD38-4C09-AA9F-A10429B0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Free-text 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67F18-2EC5-4931-AC43-64C9DD40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promises, competitors, complaints, injected 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D64C5-8F79-4B30-947E-08FE0D04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DF0DA-AF22-4AA6-BCB7-B8DF27D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836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Peers are never named; gap analysis returns aggregates only.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146CE-C7CD-4556-891B-C2B77FE5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0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E74C4-E2FA-4C8D-A38B-1513F70B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43500"/>
            <a:ext cx="836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Prices are never quoted; no pricing tool exists.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D1AF4-5F2A-4E74-B789-C5DC294B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67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A31FD-8E7E-4A95-82FF-CEAE28EE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836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Account lookup never leaves the configured rep's book.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F7EC0-4B65-415D-BBDB-8ECB5735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A098"/>
                </a:solidFill>
              </a:defRPr>
            </a:pPr>
            <a:r>
              <a:rPr sz="1050" b="1">
                <a:solidFill>
                  <a:srgbClr val="8CA098"/>
                </a:solidFill>
              </a:rPr>
              <a:t>voice-agent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617EC-CA12-4E1D-BF8A-6971247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2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CA098"/>
                </a:solidFill>
              </a:defRPr>
            </a:pPr>
            <a:r>
              <a:rPr sz="1050" b="0">
                <a:solidFill>
                  <a:srgbClr val="8CA09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4462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D3930-17A6-4491-ACDF-499EA1DD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E6EFEB"/>
                </a:solidFill>
              </a:defRPr>
            </a:pPr>
            <a:r>
              <a:rPr sz="2925" b="1">
                <a:solidFill>
                  <a:srgbClr val="E6EFEB"/>
                </a:solidFill>
              </a:rPr>
              <a:t>Retrieval is measured against how reps actually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0D440-9B93-4491-BDCF-C5C76434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CA098"/>
                </a:solidFill>
              </a:defRPr>
            </a:pPr>
            <a:r>
              <a:rPr sz="1575" b="0">
                <a:solidFill>
                  <a:srgbClr val="8CA098"/>
                </a:solidFill>
              </a:rPr>
              <a:t>Two tasks are tracked separately: one-note lookup and topic sweep across a patch.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08DF0-7099-4731-83D0-046E8564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6863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18752-6568-492C-A857-050C7E8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4D399"/>
                </a:solidFill>
              </a:defRPr>
            </a:pPr>
            <a:r>
              <a:rPr sz="2100" b="1">
                <a:solidFill>
                  <a:srgbClr val="34D399"/>
                </a:solidFill>
              </a:rPr>
              <a:t>Lookup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A4E1-B6B7-4F04-A650-76CAB550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E6EFEB"/>
                </a:solidFill>
              </a:defRPr>
            </a:pPr>
            <a:r>
              <a:rPr sz="3900" b="1">
                <a:solidFill>
                  <a:srgbClr val="E6EFEB"/>
                </a:solidFill>
              </a:rPr>
              <a:t>72%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5BD53-5D31-4E8C-ABA5-1576273E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CA098"/>
                </a:solidFill>
              </a:defRPr>
            </a:pPr>
            <a:r>
              <a:rPr sz="1575" b="0">
                <a:solidFill>
                  <a:srgbClr val="8CA098"/>
                </a:solidFill>
              </a:rPr>
              <a:t>recall@3 for paraphrased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F8E09-1AD6-4077-AB5F-13F6ACE7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28800"/>
            <a:ext cx="46863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28CEF-6169-48C4-BD87-AFF46CDC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4D399"/>
                </a:solidFill>
              </a:defRPr>
            </a:pPr>
            <a:r>
              <a:rPr sz="2100" b="1">
                <a:solidFill>
                  <a:srgbClr val="34D399"/>
                </a:solidFill>
              </a:rPr>
              <a:t>Sweep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C0F34-7B88-4CB6-B7E2-A43C92DD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E6EFEB"/>
                </a:solidFill>
              </a:defRPr>
            </a:pPr>
            <a:r>
              <a:rPr sz="3900" b="1">
                <a:solidFill>
                  <a:srgbClr val="E6EFEB"/>
                </a:solidFill>
              </a:rPr>
              <a:t>73%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3363E-508D-4229-AD3D-723F175B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CA098"/>
                </a:solidFill>
              </a:defRPr>
            </a:pPr>
            <a:r>
              <a:rPr sz="1575" b="0">
                <a:solidFill>
                  <a:srgbClr val="8CA098"/>
                </a:solidFill>
              </a:rPr>
              <a:t>hit@3 for competitor/topic searches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FC5A4-5E9D-4960-B9C4-40BA918B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E6EFEB"/>
                </a:solidFill>
              </a:defRPr>
            </a:pPr>
            <a:r>
              <a:rPr sz="1800" b="0">
                <a:solidFill>
                  <a:srgbClr val="E6EFEB"/>
                </a:solidFill>
              </a:rPr>
              <a:t>AND search found 1 of 80 lookup probes; the shipped query expands terms because spoken questions are messy.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CCF52-D578-4813-975B-A7797A7D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A098"/>
                </a:solidFill>
              </a:defRPr>
            </a:pPr>
            <a:r>
              <a:rPr sz="1050" b="1">
                <a:solidFill>
                  <a:srgbClr val="8CA098"/>
                </a:solidFill>
              </a:rPr>
              <a:t>voice-agent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A0FE9-5061-4A11-B0FA-1B300ACA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2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CA098"/>
                </a:solidFill>
              </a:defRPr>
            </a:pPr>
            <a:r>
              <a:rPr sz="1050" b="0">
                <a:solidFill>
                  <a:srgbClr val="8CA09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5675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FDEDA-3493-4F18-ADF3-B64F375F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6EFEB"/>
                </a:solidFill>
              </a:defRPr>
            </a:pPr>
            <a:r>
              <a:rPr sz="2850" b="1">
                <a:solidFill>
                  <a:srgbClr val="E6EFEB"/>
                </a:solidFill>
              </a:rPr>
              <a:t>The eval suite tests the agent and the voice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FBF0D-96EF-4A79-AB93-67555BB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CA098"/>
                </a:solidFill>
              </a:defRPr>
            </a:pPr>
            <a:r>
              <a:rPr sz="1575" b="0">
                <a:solidFill>
                  <a:srgbClr val="8CA098"/>
                </a:solidFill>
              </a:rPr>
              <a:t>Text mode is fast enough for reasoning regressions; audio mode exercises the real VAD, endpointer, echo gate, and barge-in.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2cff4ee6a43aa"/>
          <a:stretch xmlns:a="http://schemas.openxmlformats.org/drawingml/2006/main"/>
        </p:blipFill>
        <p:spPr>
          <a:xfrm xmlns:a="http://schemas.openxmlformats.org/drawingml/2006/main">
            <a:off x="590550" y="1716881"/>
            <a:ext cx="7239000" cy="2262188"/>
          </a:xfrm>
          <a:prstGeom xmlns:a="http://schemas.openxmlformats.org/drawingml/2006/main" prst="roundRect">
            <a:avLst>
              <a:gd name="adj" fmla="val 336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E8DC8-BD54-4B05-BB5F-77D472DC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6289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6201D"/>
          </a:solidFill>
          <a:ln xmlns:a="http://schemas.openxmlformats.org/drawingml/2006/main" w="9525">
            <a:solidFill>
              <a:srgbClr val="2632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E14A8-E5EA-4331-AEA3-92747544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4D399"/>
                </a:solidFill>
              </a:defRPr>
            </a:pPr>
            <a:r>
              <a:rPr sz="1575" b="1">
                <a:solidFill>
                  <a:srgbClr val="34D399"/>
                </a:solidFill>
              </a:rPr>
              <a:t>Last recorded text 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26CB7-578D-48E6-A0C5-71C293ED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EFEB"/>
                </a:solidFill>
              </a:defRPr>
            </a:pPr>
            <a:r>
              <a:rPr sz="3600" b="1">
                <a:solidFill>
                  <a:srgbClr val="E6EFEB"/>
                </a:solidFill>
              </a:rPr>
              <a:t>25 / 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CCE4D-ECDD-4C16-ADE7-15124D0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CA098"/>
                </a:solidFill>
              </a:defRPr>
            </a:pPr>
            <a:r>
              <a:rPr sz="1350" b="0">
                <a:solidFill>
                  <a:srgbClr val="8CA098"/>
                </a:solidFill>
              </a:rPr>
              <a:t>three runs with claude-haiku-4-5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0475A-29B4-4F84-8B32-9C11130A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CB219-B412-4F5C-B89C-D3D49BE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817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Scenario YAML drives simulated caller behaviour.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950F3-53E3-4D80-8F9B-5BA946B4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7F510-228D-4819-BC02-51C8AC26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Deterministic checks cover tools, facts, leaks, and refusal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42FC5-31B6-45AE-B14D-959EBAF5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95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3566F-595A-424B-81E4-787B511F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Fault injection covers ASR blanking, LLM stalls, and TTS failures.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0B589-E130-4910-AF30-DF0E8D05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A098"/>
                </a:solidFill>
              </a:defRPr>
            </a:pPr>
            <a:r>
              <a:rPr sz="1050" b="1">
                <a:solidFill>
                  <a:srgbClr val="8CA098"/>
                </a:solidFill>
              </a:rPr>
              <a:t>voice-agent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2E7AC-F6ED-4744-B559-A8C9C92B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2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CA098"/>
                </a:solidFill>
              </a:defRPr>
            </a:pPr>
            <a:r>
              <a:rPr sz="1050" b="0">
                <a:solidFill>
                  <a:srgbClr val="8CA09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0455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17086-3E65-4197-928D-FAD666C8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E6EFEB"/>
                </a:solidFill>
              </a:defRPr>
            </a:pPr>
            <a:r>
              <a:rPr sz="2775" b="1">
                <a:solidFill>
                  <a:srgbClr val="E6EFEB"/>
                </a:solidFill>
              </a:rPr>
              <a:t>The project got stronger when measurements contradicted it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40af0cb1148ba"/>
          <a:stretch xmlns:a="http://schemas.openxmlformats.org/drawingml/2006/main"/>
        </p:blipFill>
        <p:spPr>
          <a:xfrm xmlns:a="http://schemas.openxmlformats.org/drawingml/2006/main">
            <a:off x="628650" y="1587341"/>
            <a:ext cx="5295900" cy="1721168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fb9b2527d426f"/>
          <a:stretch xmlns:a="http://schemas.openxmlformats.org/drawingml/2006/main"/>
        </p:blipFill>
        <p:spPr>
          <a:xfrm xmlns:a="http://schemas.openxmlformats.org/drawingml/2006/main">
            <a:off x="6267450" y="1521143"/>
            <a:ext cx="5295900" cy="185356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081C4-A50F-43CD-96E0-E25024E8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B4587-5984-4866-90BB-CE4A43C2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893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250ms endpointing looked fast, but cut callers off on 10 of 30 turns.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02E49-EC64-4953-93EC-1535ED97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76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7D24F-9B93-44B5-BAF0-F92632AB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893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First-audio once measured the last outbound frame and even went negative.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B54A0-BF29-4450-ABCA-F6B11675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91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10BCC-2D28-4D72-8B12-DCD0B1A0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893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EFEB"/>
                </a:solidFill>
              </a:defRPr>
            </a:pPr>
            <a:r>
              <a:rPr sz="1500" b="0">
                <a:solidFill>
                  <a:srgbClr val="E6EFEB"/>
                </a:solidFill>
              </a:rPr>
              <a:t>A red-team note relayed a fake discount with all unit tests green.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DFD87-C2A7-48B0-8617-66C642B8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The strongest claim is not “we measured it”; it is “we found where the measurement lied.”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0AE7D-42D5-4C29-A357-C1461EB9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A098"/>
                </a:solidFill>
              </a:defRPr>
            </a:pPr>
            <a:r>
              <a:rPr sz="1050" b="1">
                <a:solidFill>
                  <a:srgbClr val="8CA098"/>
                </a:solidFill>
              </a:rPr>
              <a:t>voice-agent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F187A-AD1B-459D-95DA-A0CEB88C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32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CA098"/>
                </a:solidFill>
              </a:defRPr>
            </a:pPr>
            <a:r>
              <a:rPr sz="1050" b="0">
                <a:solidFill>
                  <a:srgbClr val="8CA09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43506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2026-08-05T12:04:16.0400000Z</dcterms:created>
  <dcterms:modified xsi:type="dcterms:W3CDTF">2026-08-05T12:04:16.0400000Z</dcterms:modified>
</coreProperties>
</file>
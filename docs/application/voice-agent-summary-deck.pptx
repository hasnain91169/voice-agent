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474e4d0de004087" /><Relationship Type="http://schemas.openxmlformats.org/officeDocument/2006/relationships/extended-properties" Target="/docProps/app.xml" Id="Rc3247d7a8bde425e" /><Relationship Type="http://schemas.openxmlformats.org/officeDocument/2006/relationships/officeDocument" Target="/ppt/presentation.xml" Id="Rf0448491f932410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5df214d6a274498"/>
  </p:sldMasterIdLst>
  <p:notesMasterIdLst>
    <p:notesMasterId xmlns:r="http://schemas.openxmlformats.org/officeDocument/2006/relationships" r:id="R7b2239e028884592"/>
  </p:notesMasterIdLst>
  <p:sldIdLst>
    <p:sldId xmlns:r="http://schemas.openxmlformats.org/officeDocument/2006/relationships" id="256" r:id="R2ef56946ce6c43b9"/>
    <p:sldId xmlns:r="http://schemas.openxmlformats.org/officeDocument/2006/relationships" id="257" r:id="R4104cc7876a448bd"/>
    <p:sldId xmlns:r="http://schemas.openxmlformats.org/officeDocument/2006/relationships" id="258" r:id="R7c87d71fd0cb4c13"/>
    <p:sldId xmlns:r="http://schemas.openxmlformats.org/officeDocument/2006/relationships" id="259" r:id="R3642dd9124c84beb"/>
    <p:sldId xmlns:r="http://schemas.openxmlformats.org/officeDocument/2006/relationships" id="260" r:id="Rd163d0e057a3432b"/>
    <p:sldId xmlns:r="http://schemas.openxmlformats.org/officeDocument/2006/relationships" id="261" r:id="R5e5c0af6ffa94f0d"/>
    <p:sldId xmlns:r="http://schemas.openxmlformats.org/officeDocument/2006/relationships" id="262" r:id="R339dffcbea7547d5"/>
    <p:sldId xmlns:r="http://schemas.openxmlformats.org/officeDocument/2006/relationships" id="263" r:id="R6ec29d4dcda44e62"/>
    <p:sldId xmlns:r="http://schemas.openxmlformats.org/officeDocument/2006/relationships" id="264" r:id="R228c4267375f4fbc"/>
    <p:sldId xmlns:r="http://schemas.openxmlformats.org/officeDocument/2006/relationships" id="265" r:id="R3a5b2c16da684dc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49e21d8c87d4517" /><Relationship Type="http://schemas.openxmlformats.org/officeDocument/2006/relationships/slideMaster" Target="/ppt/slideMasters/slideMaster1.xml" Id="Rf5df214d6a274498" /><Relationship Type="http://schemas.openxmlformats.org/officeDocument/2006/relationships/notesMaster" Target="/ppt/notesMasters/notesMaster1.xml" Id="R7b2239e028884592" /><Relationship Type="http://schemas.openxmlformats.org/officeDocument/2006/relationships/presProps" Target="/ppt/presProps.xml" Id="R3a6b7f695ebe476c" /><Relationship Type="http://schemas.openxmlformats.org/officeDocument/2006/relationships/tableStyles" Target="/ppt/tableStyles.xml" Id="R2a36e18f68844ba8" /><Relationship Type="http://schemas.openxmlformats.org/officeDocument/2006/relationships/slide" Target="/ppt/slides/slide1.xml" Id="R2ef56946ce6c43b9" /><Relationship Type="http://schemas.openxmlformats.org/officeDocument/2006/relationships/slide" Target="/ppt/slides/slide2.xml" Id="R4104cc7876a448bd" /><Relationship Type="http://schemas.openxmlformats.org/officeDocument/2006/relationships/slide" Target="/ppt/slides/slide3.xml" Id="R7c87d71fd0cb4c13" /><Relationship Type="http://schemas.openxmlformats.org/officeDocument/2006/relationships/slide" Target="/ppt/slides/slide4.xml" Id="R3642dd9124c84beb" /><Relationship Type="http://schemas.openxmlformats.org/officeDocument/2006/relationships/slide" Target="/ppt/slides/slide5.xml" Id="Rd163d0e057a3432b" /><Relationship Type="http://schemas.openxmlformats.org/officeDocument/2006/relationships/slide" Target="/ppt/slides/slide6.xml" Id="R5e5c0af6ffa94f0d" /><Relationship Type="http://schemas.openxmlformats.org/officeDocument/2006/relationships/slide" Target="/ppt/slides/slide7.xml" Id="R339dffcbea7547d5" /><Relationship Type="http://schemas.openxmlformats.org/officeDocument/2006/relationships/slide" Target="/ppt/slides/slide8.xml" Id="R6ec29d4dcda44e62" /><Relationship Type="http://schemas.openxmlformats.org/officeDocument/2006/relationships/slide" Target="/ppt/slides/slide9.xml" Id="R228c4267375f4fbc" /><Relationship Type="http://schemas.openxmlformats.org/officeDocument/2006/relationships/slide" Target="/ppt/slides/slide10.xml" Id="R3a5b2c16da684dc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0d90dcea9c74b3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39466e4aa334902" /><Relationship Type="http://schemas.openxmlformats.org/officeDocument/2006/relationships/notesMaster" Target="/ppt/notesMasters/notesMaster1.xml" Id="R1f66b8afa2b24d3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d9498b353054a2f" /><Relationship Type="http://schemas.openxmlformats.org/officeDocument/2006/relationships/notesMaster" Target="/ppt/notesMasters/notesMaster1.xml" Id="R6e72d53eaf9645e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ecb5b0b3f80488d" /><Relationship Type="http://schemas.openxmlformats.org/officeDocument/2006/relationships/notesMaster" Target="/ppt/notesMasters/notesMaster1.xml" Id="R20788e788d91460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4513d2db46444e5" /><Relationship Type="http://schemas.openxmlformats.org/officeDocument/2006/relationships/notesMaster" Target="/ppt/notesMasters/notesMaster1.xml" Id="R6d98079db8e0486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3d1698acebb4f2b" /><Relationship Type="http://schemas.openxmlformats.org/officeDocument/2006/relationships/notesMaster" Target="/ppt/notesMasters/notesMaster1.xml" Id="Rcd7fa312b4f84c4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75b4faefd9b4639" /><Relationship Type="http://schemas.openxmlformats.org/officeDocument/2006/relationships/notesMaster" Target="/ppt/notesMasters/notesMaster1.xml" Id="Rdbdeef5af96c4b1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4e501c12ce44afc" /><Relationship Type="http://schemas.openxmlformats.org/officeDocument/2006/relationships/notesMaster" Target="/ppt/notesMasters/notesMaster1.xml" Id="Rf1e9e67ee997462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404bbcbc4bc4e5b" /><Relationship Type="http://schemas.openxmlformats.org/officeDocument/2006/relationships/notesMaster" Target="/ppt/notesMasters/notesMaster1.xml" Id="R872c290ac129483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0c057d03cdf4832" /><Relationship Type="http://schemas.openxmlformats.org/officeDocument/2006/relationships/notesMaster" Target="/ppt/notesMasters/notesMaster1.xml" Id="Redfb909d808a4d4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d669ab2625b4b8c" /><Relationship Type="http://schemas.openxmlformats.org/officeDocument/2006/relationships/notesMaster" Target="/ppt/notesMasters/notesMaster1.xml" Id="Rf1f372d43b644d9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by separating this repo from a generic chatbot demo.</a:t>
            </a:r>
          </a:p>
          <a:p xmlns:a="http://schemas.openxmlformats.org/drawingml/2006/main">
            <a:r>
              <a:t>Emphasise that the project is designed to be read, run, interrupted, and evaluated.</a:t>
            </a:r>
          </a:p>
          <a:p xmlns:a="http://schemas.openxmlformats.org/drawingml/2006/main">
            <a:r>
              <a:t>[Sources] README.md lines 1-13; docs/design/repo-hero-banner.png.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frames the engineering problem before showing the architecture.</a:t>
            </a:r>
          </a:p>
          <a:p xmlns:a="http://schemas.openxmlformats.org/drawingml/2006/main">
            <a:r>
              <a:t>Talk about real calls: pauses, interruptions, echo, and state consistency.</a:t>
            </a:r>
          </a:p>
          <a:p xmlns:a="http://schemas.openxmlformats.org/drawingml/2006/main">
            <a:r>
              <a:t>[Sources] docs/architecture.md lines 7-10, 16-18, 50-63, 64-80.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right: browser or future telephony transport, RxPump, frame channel, VAD, ASR, LangGraph, tools, TTS, playback.</a:t>
            </a:r>
          </a:p>
          <a:p xmlns:a="http://schemas.openxmlformats.org/drawingml/2006/main">
            <a:r>
              <a:t>Name the architectural boundary: framework reasoning outside the 20ms loop.</a:t>
            </a:r>
          </a:p>
          <a:p xmlns:a="http://schemas.openxmlformats.org/drawingml/2006/main">
            <a:r>
              <a:t>[Sources] README.md lines 22-48; src/voice_agent/rx.py lines 112-140; src/voice_agent/agent/graph.py lines 6-12.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why full generated text cannot be blindly committed after an interruption.</a:t>
            </a:r>
          </a:p>
          <a:p xmlns:a="http://schemas.openxmlformats.org/drawingml/2006/main">
            <a:r>
              <a:t>This is the strongest technical differentiator: state remains caller-truthful after cancellation.</a:t>
            </a:r>
          </a:p>
          <a:p xmlns:a="http://schemas.openxmlformats.org/drawingml/2006/main">
            <a:r>
              <a:t>[Sources] README.md lines 64-70 and 359-368; src/voice_agent/pipeline.py lines 325-365; src/voice_agent/session.py lines 30-80.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slide to connect the project to Acto: ERP, CRM, behaviour, revenue signals, and action orchestration.</a:t>
            </a:r>
          </a:p>
          <a:p xmlns:a="http://schemas.openxmlformats.org/drawingml/2006/main">
            <a:r>
              <a:t>Emphasise that guardrails are implemented in tools rather than delegated to prompting.</a:t>
            </a:r>
          </a:p>
          <a:p xmlns:a="http://schemas.openxmlformats.org/drawingml/2006/main">
            <a:r>
              <a:t>[Sources] README.md lines 78-108; src/voice_agent/agent/tools/sales.py lines 1-20 and 60-65.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why this is BM25/FTS5 rather than embeddings: small corpus, deterministic, fast, and enough to test the voice-agent behaviour.</a:t>
            </a:r>
          </a:p>
          <a:p xmlns:a="http://schemas.openxmlformats.org/drawingml/2006/main">
            <a:r>
              <a:t>Mention the bench command reproduced these numbers locally.</a:t>
            </a:r>
          </a:p>
          <a:p xmlns:a="http://schemas.openxmlformats.org/drawingml/2006/main">
            <a:r>
              <a:t>[Sources] README.md lines 110-165; bench.retrieval local run; docs/architecture.md lines 150-177.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slide to show simulation-based testing, which Acto explicitly asks for.</a:t>
            </a:r>
          </a:p>
          <a:p xmlns:a="http://schemas.openxmlformats.org/drawingml/2006/main">
            <a:r>
              <a:t>Be candid: 26/33 is not perfect, and that is part of the point. The system reports residual failures rather than hiding them.</a:t>
            </a:r>
          </a:p>
          <a:p xmlns:a="http://schemas.openxmlformats.org/drawingml/2006/main">
            <a:r>
              <a:t>[Sources] evals/harness.py lines 1-15 and 102-166; evals/scenarios/*.yaml; src/voice_agent/server/static/eval-summary.json.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humility slide. It shows mature engineering judgement and gives you several interview stories.</a:t>
            </a:r>
          </a:p>
          <a:p xmlns:a="http://schemas.openxmlformats.org/drawingml/2006/main">
            <a:r>
              <a:t>Use the endpointer story as the best trade-off example.</a:t>
            </a:r>
          </a:p>
          <a:p xmlns:a="http://schemas.openxmlformats.org/drawingml/2006/main">
            <a:r>
              <a:t>[Sources] README.md lines 325-384 and 438-479; docs/architecture.md lines 209-238.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your recording plan. Keep the intro tight, then switch to the browser demo.</a:t>
            </a:r>
          </a:p>
          <a:p xmlns:a="http://schemas.openxmlformats.org/drawingml/2006/main">
            <a:r>
              <a:t>Do not try to show every feature live. Prove the behaviours that Acto cares about most.</a:t>
            </a:r>
          </a:p>
          <a:p xmlns:a="http://schemas.openxmlformats.org/drawingml/2006/main">
            <a:r>
              <a:t>[Sources] README.md quick start lines 481-513; src/voice_agent/server/static/demo.html.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as the close before the live demo. It tells the reviewer how to read the repository.</a:t>
            </a:r>
          </a:p>
          <a:p xmlns:a="http://schemas.openxmlformats.org/drawingml/2006/main">
            <a:r>
              <a:t>Mention Vercel carefully: a static showcase or cloud-provider version is reasonable; the full local-model stack remains best as local/browser.</a:t>
            </a:r>
          </a:p>
          <a:p xmlns:a="http://schemas.openxmlformats.org/drawingml/2006/main">
            <a:r>
              <a:t>[Sources] README.md lines 519-546; project test and bench runs performed locally.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52ddb55a7884dc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531839e7ab04233" /><Relationship Type="http://schemas.openxmlformats.org/officeDocument/2006/relationships/slideLayout" Target="/ppt/slideLayouts/slideLayout1.xml" Id="Re8bab5e30231430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8bab5e30231430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9441f5b33c457a" /><Relationship Type="http://schemas.openxmlformats.org/officeDocument/2006/relationships/image" Target="/ppt/media/image.png" Id="R550cb204f8cd464f" /><Relationship Type="http://schemas.openxmlformats.org/officeDocument/2006/relationships/notesSlide" Target="/ppt/notesSlides/notesSlide1.xml" Id="Rd278321e04644a3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ba70d51d8f4935" /><Relationship Type="http://schemas.openxmlformats.org/officeDocument/2006/relationships/notesSlide" Target="/ppt/notesSlides/notesSlide2.xml" Id="Re3030989c64643f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668e4824d44047" /><Relationship Type="http://schemas.openxmlformats.org/officeDocument/2006/relationships/image" Target="/ppt/media/image2.png" Id="Rf61c9c01e4d549a3" /><Relationship Type="http://schemas.openxmlformats.org/officeDocument/2006/relationships/notesSlide" Target="/ppt/notesSlides/notesSlide3.xml" Id="Rebfc66af01984b1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30aa9fca724e40" /><Relationship Type="http://schemas.openxmlformats.org/officeDocument/2006/relationships/image" Target="/ppt/media/image3.png" Id="R2e857ea350db4a72" /><Relationship Type="http://schemas.openxmlformats.org/officeDocument/2006/relationships/notesSlide" Target="/ppt/notesSlides/notesSlide4.xml" Id="Ra0a524c9ed524e5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4b9b58c6eb4512" /><Relationship Type="http://schemas.openxmlformats.org/officeDocument/2006/relationships/notesSlide" Target="/ppt/notesSlides/notesSlide5.xml" Id="R12b96f3274614a2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3408c338f44423" /><Relationship Type="http://schemas.openxmlformats.org/officeDocument/2006/relationships/notesSlide" Target="/ppt/notesSlides/notesSlide6.xml" Id="R9f7db14607164eb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36504f429444ef" /><Relationship Type="http://schemas.openxmlformats.org/officeDocument/2006/relationships/image" Target="/ppt/media/image4.png" Id="R9f504ae1fdf84c96" /><Relationship Type="http://schemas.openxmlformats.org/officeDocument/2006/relationships/notesSlide" Target="/ppt/notesSlides/notesSlide7.xml" Id="R3171e88dfea34c2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bb4081c9004b6c" /><Relationship Type="http://schemas.openxmlformats.org/officeDocument/2006/relationships/image" Target="/ppt/media/image5.png" Id="R59303b7742024522" /><Relationship Type="http://schemas.openxmlformats.org/officeDocument/2006/relationships/image" Target="/ppt/media/image6.png" Id="R83690ae99a1c425f" /><Relationship Type="http://schemas.openxmlformats.org/officeDocument/2006/relationships/notesSlide" Target="/ppt/notesSlides/notesSlide8.xml" Id="R1c180dc4973d45c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7f9e852c0b4340" /><Relationship Type="http://schemas.openxmlformats.org/officeDocument/2006/relationships/notesSlide" Target="/ppt/notesSlides/notesSlide9.xml" Id="Re1c1157c9c05439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26f317e1a34909" /><Relationship Type="http://schemas.openxmlformats.org/officeDocument/2006/relationships/notesSlide" Target="/ppt/notesSlides/notesSlide10.xml" Id="Rfddb088f825942a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0F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0cb204f8cd464f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3962400"/>
          </a:xfrm>
          <a:prstGeom xmlns:a="http://schemas.openxmlformats.org/drawingml/2006/main" prst="roundRect">
            <a:avLst>
              <a:gd name="adj" fmla="val 1923"/>
            </a:avLst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2E9C94-E1B9-42A7-9CF2-11E49D4C6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8191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E6EFEB"/>
                </a:solidFill>
              </a:defRPr>
            </a:pPr>
            <a:r>
              <a:rPr sz="3750" b="1">
                <a:solidFill>
                  <a:srgbClr val="E6EFEB"/>
                </a:solidFill>
              </a:rPr>
              <a:t>A measured voice-agent system, not a stitched-together demo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BE75A3-0CC6-40D6-95D6-7AD0C8C17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4673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8CA098"/>
                </a:solidFill>
              </a:defRPr>
            </a:pPr>
            <a:r>
              <a:rPr sz="1650" b="0">
                <a:solidFill>
                  <a:srgbClr val="8CA098"/>
                </a:solidFill>
              </a:rPr>
              <a:t>Streaming audio, LangGraph tools, barge-in, spoken memory, and simulation-based evaluation.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77E4E8-8E88-495A-9276-35F2A3A46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550545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34D399"/>
                </a:solidFill>
              </a:defRPr>
            </a:pPr>
            <a:r>
              <a:rPr sz="1350" b="1">
                <a:solidFill>
                  <a:srgbClr val="34D399"/>
                </a:solidFill>
              </a:rPr>
              <a:t>Recording deck</a:t>
            </a:r>
          </a:p>
        </p:txBody>
      </p:sp>
    </p:spTree>
    <p:extLst>
      <p:ext uri="{BB962C8B-B14F-4D97-AF65-F5344CB8AC3E}">
        <p14:creationId xmlns:p14="http://schemas.microsoft.com/office/powerpoint/2010/main" val="78244866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0F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3645A4-89E8-4DB1-B37F-25FC740BD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8858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75" b="1">
                <a:solidFill>
                  <a:srgbClr val="E6EFEB"/>
                </a:solidFill>
              </a:defRPr>
            </a:pPr>
            <a:r>
              <a:rPr sz="3075" b="1">
                <a:solidFill>
                  <a:srgbClr val="E6EFEB"/>
                </a:solidFill>
              </a:rPr>
              <a:t>The hard part is the call, not just the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472923-6703-4841-8B41-779DDFD45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1714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34D399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1B2E42-7DE3-478F-A3B9-CED611EA3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723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8CA098"/>
                </a:solidFill>
              </a:defRPr>
            </a:pPr>
            <a:r>
              <a:rPr sz="1875" b="0">
                <a:solidFill>
                  <a:srgbClr val="8CA098"/>
                </a:solidFill>
              </a:rPr>
              <a:t>Most voice demos work until a real caller pauses, talks over the agent, or asks for something the backend must constrain.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8C8B45-38E3-4CA9-84EF-BDCE5BFF1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146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0A5FA"/>
          </a:solidFill>
          <a:ln xmlns:a="http://schemas.openxmlformats.org/drawingml/2006/main" w="0">
            <a:solidFill>
              <a:srgbClr val="60A5F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1A82C9-9B26-4E35-8E3E-E03D0799D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647950"/>
            <a:ext cx="6648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E6EFEB"/>
                </a:solidFill>
              </a:defRPr>
            </a:pPr>
            <a:r>
              <a:rPr sz="1650" b="0">
                <a:solidFill>
                  <a:srgbClr val="E6EFEB"/>
                </a:solidFill>
              </a:rPr>
              <a:t>20ms audio frames arrive whether the model is ready or not.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49EAD7-3C4F-48FA-A1A6-BC05D3D56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623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solidFill>
              <a:srgbClr val="FBBF2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549315-347F-426B-9806-ACB6C21E2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295650"/>
            <a:ext cx="6648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E6EFEB"/>
                </a:solidFill>
              </a:defRPr>
            </a:pPr>
            <a:r>
              <a:rPr sz="1650" b="0">
                <a:solidFill>
                  <a:srgbClr val="E6EFEB"/>
                </a:solidFill>
              </a:rPr>
              <a:t>Endpointing trades latency against cutting people off.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6079FB-3C53-4B14-BDCE-7E0E9E229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100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34D39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FC500C-1B39-4E0B-B23A-7DC00A12E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943350"/>
            <a:ext cx="6648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E6EFEB"/>
                </a:solidFill>
              </a:defRPr>
            </a:pPr>
            <a:r>
              <a:rPr sz="1650" b="0">
                <a:solidFill>
                  <a:srgbClr val="E6EFEB"/>
                </a:solidFill>
              </a:rPr>
              <a:t>Barge-in only works if reception and playback do not fight over the socket.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5123D3-A23A-46F1-8F16-00EA8E0A4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577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7171"/>
          </a:solidFill>
          <a:ln xmlns:a="http://schemas.openxmlformats.org/drawingml/2006/main" w="0">
            <a:solidFill>
              <a:srgbClr val="F8717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63D266-9983-4138-8A4F-34D7AF450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591050"/>
            <a:ext cx="6648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E6EFEB"/>
                </a:solidFill>
              </a:defRPr>
            </a:pPr>
            <a:r>
              <a:rPr sz="1650" b="0">
                <a:solidFill>
                  <a:srgbClr val="E6EFEB"/>
                </a:solidFill>
              </a:rPr>
              <a:t>Memory must record what was heard, not what was generated.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16D975-FED7-4C0E-910D-EA6A43690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04950"/>
            <a:ext cx="2724150" cy="3028950"/>
          </a:xfrm>
          <a:prstGeom xmlns:a="http://schemas.openxmlformats.org/drawingml/2006/main" prst="roundRect">
            <a:avLst>
              <a:gd name="adj" fmla="val 2797"/>
            </a:avLst>
          </a:prstGeom>
          <a:solidFill xmlns:a="http://schemas.openxmlformats.org/drawingml/2006/main">
            <a:srgbClr val="16201D"/>
          </a:solidFill>
          <a:ln xmlns:a="http://schemas.openxmlformats.org/drawingml/2006/main" w="9525">
            <a:solidFill>
              <a:srgbClr val="26322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AF27E2-AD7A-40BA-935A-3387FE8D9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8478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4D399"/>
                </a:solidFill>
              </a:defRPr>
            </a:pPr>
            <a:r>
              <a:rPr sz="1800" b="1">
                <a:solidFill>
                  <a:srgbClr val="34D399"/>
                </a:solidFill>
              </a:rPr>
              <a:t>Design answer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4CF9A8-97E2-4E28-A68A-37407663D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381250"/>
            <a:ext cx="207645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E6EFEB"/>
                </a:solidFill>
              </a:defRPr>
            </a:pPr>
            <a:r>
              <a:rPr sz="1875" b="0">
                <a:solidFill>
                  <a:srgbClr val="E6EFEB"/>
                </a:solidFill>
              </a:rPr>
              <a:t>Keep the audio loop plain and measurable. Let LangGraph reason, but never own frame timing.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04D095-F92F-4EA0-8A95-E19BAD2BC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CA098"/>
                </a:solidFill>
              </a:defRPr>
            </a:pPr>
            <a:r>
              <a:rPr sz="1050" b="1">
                <a:solidFill>
                  <a:srgbClr val="8CA098"/>
                </a:solidFill>
              </a:rPr>
              <a:t>voice-agent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6DF7BA-7C14-448F-B901-12CC977BF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6324600"/>
            <a:ext cx="590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8CA098"/>
                </a:solidFill>
              </a:defRPr>
            </a:pPr>
            <a:r>
              <a:rPr sz="1050" b="0">
                <a:solidFill>
                  <a:srgbClr val="8CA098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32218193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0F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75A81E-D230-4708-BD6E-B98AF5EEB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9144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E6EFEB"/>
                </a:solidFill>
              </a:defRPr>
            </a:pPr>
            <a:r>
              <a:rPr sz="3000" b="1">
                <a:solidFill>
                  <a:srgbClr val="E6EFEB"/>
                </a:solidFill>
              </a:rPr>
              <a:t>One receive owner keeps the audio path honest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CE73E0-46C2-47A1-BD26-ED79A13F3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28700"/>
            <a:ext cx="7048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8CA098"/>
                </a:solidFill>
              </a:defRPr>
            </a:pPr>
            <a:r>
              <a:rPr sz="1575" b="0">
                <a:solidFill>
                  <a:srgbClr val="8CA098"/>
                </a:solidFill>
              </a:rPr>
              <a:t>RxPump owns inbound audio; downstream consumers read frames, not the socket.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1c9c01e4d549a3"/>
          <a:stretch xmlns:a="http://schemas.openxmlformats.org/drawingml/2006/main"/>
        </p:blipFill>
        <p:spPr>
          <a:xfrm xmlns:a="http://schemas.openxmlformats.org/drawingml/2006/main">
            <a:off x="476250" y="1528763"/>
            <a:ext cx="11239500" cy="3933825"/>
          </a:xfrm>
          <a:prstGeom xmlns:a="http://schemas.openxmlformats.org/drawingml/2006/main" prst="roundRect">
            <a:avLst>
              <a:gd name="adj" fmla="val 1932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07F8C0-0E7C-4E70-9CD0-E4E9F8EFF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619750"/>
            <a:ext cx="3562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4D399"/>
                </a:solidFill>
              </a:defRPr>
            </a:pPr>
            <a:r>
              <a:rPr sz="1650" b="1">
                <a:solidFill>
                  <a:srgbClr val="34D399"/>
                </a:solidFill>
              </a:rPr>
              <a:t>Cancel scope: LLM + TTS + playback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B51E60-262E-4C75-B5F9-204A6D5D5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CA098"/>
                </a:solidFill>
              </a:defRPr>
            </a:pPr>
            <a:r>
              <a:rPr sz="1050" b="1">
                <a:solidFill>
                  <a:srgbClr val="8CA098"/>
                </a:solidFill>
              </a:rPr>
              <a:t>voice-agent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600F64-54AC-4DC7-8937-186683D34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6324600"/>
            <a:ext cx="590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8CA098"/>
                </a:solidFill>
              </a:defRPr>
            </a:pPr>
            <a:r>
              <a:rPr sz="1050" b="0">
                <a:solidFill>
                  <a:srgbClr val="8CA098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87740253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0F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676F32-BECB-4793-A15B-806D809A1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9429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E6EFEB"/>
                </a:solidFill>
              </a:defRPr>
            </a:pPr>
            <a:r>
              <a:rPr sz="2925" b="1">
                <a:solidFill>
                  <a:srgbClr val="E6EFEB"/>
                </a:solidFill>
              </a:rPr>
              <a:t>Barge-in is cancellation plus memory discipline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D6EB5E-9E1A-4F51-B8DB-D1DB220CA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57275"/>
            <a:ext cx="781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8CA098"/>
                </a:solidFill>
              </a:defRPr>
            </a:pPr>
            <a:r>
              <a:rPr sz="1575" b="0">
                <a:solidFill>
                  <a:srgbClr val="8CA098"/>
                </a:solidFill>
              </a:rPr>
              <a:t>Stopping audio is not enough; the conversation state must match what the caller actually heard.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857ea350db4a72"/>
          <a:stretch xmlns:a="http://schemas.openxmlformats.org/drawingml/2006/main"/>
        </p:blipFill>
        <p:spPr>
          <a:xfrm xmlns:a="http://schemas.openxmlformats.org/drawingml/2006/main">
            <a:off x="590550" y="1889522"/>
            <a:ext cx="7000875" cy="2450306"/>
          </a:xfrm>
          <a:prstGeom xmlns:a="http://schemas.openxmlformats.org/drawingml/2006/main" prst="roundRect">
            <a:avLst>
              <a:gd name="adj" fmla="val 2516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C84977-60BD-499B-926B-F1A1E4F6C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90700"/>
            <a:ext cx="2743200" cy="2171700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16201D"/>
          </a:solidFill>
          <a:ln xmlns:a="http://schemas.openxmlformats.org/drawingml/2006/main" w="9525">
            <a:solidFill>
              <a:srgbClr val="26322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A84671-44FB-4E90-9856-D698158C1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1145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4D399"/>
                </a:solidFill>
              </a:defRPr>
            </a:pPr>
            <a:r>
              <a:rPr sz="1800" b="1">
                <a:solidFill>
                  <a:srgbClr val="34D399"/>
                </a:solidFill>
              </a:rPr>
              <a:t>Measured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3F661E-72D3-4EA9-96C4-7822147E4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55270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E6EFEB"/>
                </a:solidFill>
              </a:defRPr>
            </a:pPr>
            <a:r>
              <a:rPr sz="2850" b="1">
                <a:solidFill>
                  <a:srgbClr val="E6EFEB"/>
                </a:solidFill>
              </a:rPr>
              <a:t>219-328ms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113E42-6BB1-4980-9A9B-ADBDD2DDE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028950"/>
            <a:ext cx="200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8CA098"/>
                </a:solidFill>
              </a:defRPr>
            </a:pPr>
            <a:r>
              <a:rPr sz="1350" b="0">
                <a:solidFill>
                  <a:srgbClr val="8CA098"/>
                </a:solidFill>
              </a:rPr>
              <a:t>caller talking over -&gt; last outbound frame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20A0A1-044E-49CA-A352-9C31BC5F5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095875"/>
            <a:ext cx="838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6EFEB"/>
                </a:solidFill>
              </a:defRPr>
            </a:pPr>
            <a:r>
              <a:rPr sz="1800" b="1">
                <a:solidFill>
                  <a:srgbClr val="E6EFEB"/>
                </a:solidFill>
              </a:rPr>
              <a:t>History matched heard text in 2 of 2 interrupted calls.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5BCD04-8CB4-474B-BCF9-7DCBD3396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CA098"/>
                </a:solidFill>
              </a:defRPr>
            </a:pPr>
            <a:r>
              <a:rPr sz="1050" b="1">
                <a:solidFill>
                  <a:srgbClr val="8CA098"/>
                </a:solidFill>
              </a:rPr>
              <a:t>voice-agent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0D461D-772E-47DA-9572-B74AE82BF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6324600"/>
            <a:ext cx="590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8CA098"/>
                </a:solidFill>
              </a:defRPr>
            </a:pPr>
            <a:r>
              <a:rPr sz="1050" b="0">
                <a:solidFill>
                  <a:srgbClr val="8CA098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61146719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0F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2F8A63-C00B-4E8A-BDED-3388324EA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8382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E6EFEB"/>
                </a:solidFill>
              </a:defRPr>
            </a:pPr>
            <a:r>
              <a:rPr sz="3000" b="1">
                <a:solidFill>
                  <a:srgbClr val="E6EFEB"/>
                </a:solidFill>
              </a:rPr>
              <a:t>The demo domain looks like revenue work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31D594-6F82-449C-8C64-86FF2C36C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04900"/>
            <a:ext cx="857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8CA098"/>
                </a:solidFill>
              </a:defRPr>
            </a:pPr>
            <a:r>
              <a:rPr sz="1650" b="0">
                <a:solidFill>
                  <a:srgbClr val="8CA098"/>
                </a:solidFill>
              </a:rPr>
              <a:t>A builders' merchant sales assistant combines ERP orders, CRM contact history, website behaviour, and visit notes.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77443A-2B63-47B9-93DF-E2BF598C6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95500"/>
            <a:ext cx="243840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111614"/>
          </a:solidFill>
          <a:ln xmlns:a="http://schemas.openxmlformats.org/drawingml/2006/main" w="9525">
            <a:solidFill>
              <a:srgbClr val="26322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43F2F5-4D3C-40CA-B86A-D53BFCC21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381250"/>
            <a:ext cx="198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4D399"/>
                </a:solidFill>
              </a:defRPr>
            </a:pPr>
            <a:r>
              <a:rPr sz="1800" b="1">
                <a:solidFill>
                  <a:srgbClr val="34D399"/>
                </a:solidFill>
              </a:rPr>
              <a:t>ERP orders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8B95BE-61E5-4D4E-BF84-0BF281E21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971800"/>
            <a:ext cx="19240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E6EFEB"/>
                </a:solidFill>
              </a:defRPr>
            </a:pPr>
            <a:r>
              <a:rPr sz="1500" b="0">
                <a:solidFill>
                  <a:srgbClr val="E6EFEB"/>
                </a:solidFill>
              </a:rPr>
              <a:t>reorder cadence, spend trend, category gaps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2BDC41-F84D-47F4-8D10-6BE815CA8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095500"/>
            <a:ext cx="243840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111614"/>
          </a:solidFill>
          <a:ln xmlns:a="http://schemas.openxmlformats.org/drawingml/2006/main" w="9525">
            <a:solidFill>
              <a:srgbClr val="26322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BFF0D3-3028-4D5D-BB56-EA486BB82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381250"/>
            <a:ext cx="198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4D399"/>
                </a:solidFill>
              </a:defRPr>
            </a:pPr>
            <a:r>
              <a:rPr sz="1800" b="1">
                <a:solidFill>
                  <a:srgbClr val="34D399"/>
                </a:solidFill>
              </a:rPr>
              <a:t>CRM history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00078B-AEF7-4FCB-B079-AAE538F24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971800"/>
            <a:ext cx="19240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E6EFEB"/>
                </a:solidFill>
              </a:defRPr>
            </a:pPr>
            <a:r>
              <a:rPr sz="1500" b="0">
                <a:solidFill>
                  <a:srgbClr val="E6EFEB"/>
                </a:solidFill>
              </a:rPr>
              <a:t>contacts, visits, calls, follow-up context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A05DBD-52E4-4BE3-AD1A-B5528F4F2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095500"/>
            <a:ext cx="243840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111614"/>
          </a:solidFill>
          <a:ln xmlns:a="http://schemas.openxmlformats.org/drawingml/2006/main" w="9525">
            <a:solidFill>
              <a:srgbClr val="26322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41D27E-AE49-4C84-81B9-54FA139EE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81250"/>
            <a:ext cx="198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4D399"/>
                </a:solidFill>
              </a:defRPr>
            </a:pPr>
            <a:r>
              <a:rPr sz="1800" b="1">
                <a:solidFill>
                  <a:srgbClr val="34D399"/>
                </a:solidFill>
              </a:rPr>
              <a:t>Web behaviour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5754BD-6D83-44E8-9F7A-D433EBA18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71800"/>
            <a:ext cx="19240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E6EFEB"/>
                </a:solidFill>
              </a:defRPr>
            </a:pPr>
            <a:r>
              <a:rPr sz="1500" b="0">
                <a:solidFill>
                  <a:srgbClr val="E6EFEB"/>
                </a:solidFill>
              </a:rPr>
              <a:t>interest signals for categories not yet bought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2BB3E9-3770-41F9-90B2-CDB7EC5EC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095500"/>
            <a:ext cx="243840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111614"/>
          </a:solidFill>
          <a:ln xmlns:a="http://schemas.openxmlformats.org/drawingml/2006/main" w="9525">
            <a:solidFill>
              <a:srgbClr val="26322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E84F29-DD38-4C09-AA9F-A10429B03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381250"/>
            <a:ext cx="198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4D399"/>
                </a:solidFill>
              </a:defRPr>
            </a:pPr>
            <a:r>
              <a:rPr sz="1800" b="1">
                <a:solidFill>
                  <a:srgbClr val="34D399"/>
                </a:solidFill>
              </a:rPr>
              <a:t>Free-text notes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C67F18-2EC5-4931-AC43-64C9DD401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971800"/>
            <a:ext cx="19240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E6EFEB"/>
                </a:solidFill>
              </a:defRPr>
            </a:pPr>
            <a:r>
              <a:rPr sz="1500" b="0">
                <a:solidFill>
                  <a:srgbClr val="E6EFEB"/>
                </a:solidFill>
              </a:rPr>
              <a:t>promises, competitors, complaints, injected text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CD64C5-8F79-4B30-947E-08FE0D049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7529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0A5FA"/>
          </a:solidFill>
          <a:ln xmlns:a="http://schemas.openxmlformats.org/drawingml/2006/main" w="0">
            <a:solidFill>
              <a:srgbClr val="60A5F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4DF0DA-AF22-4AA6-BCB7-B8DF27D8C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86300"/>
            <a:ext cx="8362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E6EFEB"/>
                </a:solidFill>
              </a:defRPr>
            </a:pPr>
            <a:r>
              <a:rPr sz="1500" b="0">
                <a:solidFill>
                  <a:srgbClr val="E6EFEB"/>
                </a:solidFill>
              </a:rPr>
              <a:t>Peers are never named; gap analysis returns aggregates only.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2146CE-C7CD-4556-891B-C2B77FE55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2101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solidFill>
              <a:srgbClr val="FBBF2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EE74C4-E2FA-4C8D-A38B-1513F70B5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143500"/>
            <a:ext cx="8362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E6EFEB"/>
                </a:solidFill>
              </a:defRPr>
            </a:pPr>
            <a:r>
              <a:rPr sz="1500" b="0">
                <a:solidFill>
                  <a:srgbClr val="E6EFEB"/>
                </a:solidFill>
              </a:rPr>
              <a:t>Prices are never quoted; no pricing tool exists.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8D1AF4-5F2A-4E74-B789-C5DC294BE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6673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7171"/>
          </a:solidFill>
          <a:ln xmlns:a="http://schemas.openxmlformats.org/drawingml/2006/main" w="0">
            <a:solidFill>
              <a:srgbClr val="F8717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98A31FD-8E7E-4A95-82FF-CEAE28EE5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600700"/>
            <a:ext cx="8362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E6EFEB"/>
                </a:solidFill>
              </a:defRPr>
            </a:pPr>
            <a:r>
              <a:rPr sz="1500" b="0">
                <a:solidFill>
                  <a:srgbClr val="E6EFEB"/>
                </a:solidFill>
              </a:rPr>
              <a:t>Account lookup never leaves the configured rep's book.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63F7EC0-4B65-415D-BBDB-8ECB57358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CA098"/>
                </a:solidFill>
              </a:defRPr>
            </a:pPr>
            <a:r>
              <a:rPr sz="1050" b="1">
                <a:solidFill>
                  <a:srgbClr val="8CA098"/>
                </a:solidFill>
              </a:rPr>
              <a:t>voice-agent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B3617EC-CA12-4E1D-BF8A-6971247A4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6324600"/>
            <a:ext cx="590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8CA098"/>
                </a:solidFill>
              </a:defRPr>
            </a:pPr>
            <a:r>
              <a:rPr sz="1050" b="0">
                <a:solidFill>
                  <a:srgbClr val="8CA098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04446203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0F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8D3930-17A6-4491-ACDF-499EA1DD8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933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E6EFEB"/>
                </a:solidFill>
              </a:defRPr>
            </a:pPr>
            <a:r>
              <a:rPr sz="2925" b="1">
                <a:solidFill>
                  <a:srgbClr val="E6EFEB"/>
                </a:solidFill>
              </a:rPr>
              <a:t>Retrieval is measured against how reps actually ask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80D440-9B93-4491-BDCF-C5C764346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66800"/>
            <a:ext cx="790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8CA098"/>
                </a:solidFill>
              </a:defRPr>
            </a:pPr>
            <a:r>
              <a:rPr sz="1575" b="0">
                <a:solidFill>
                  <a:srgbClr val="8CA098"/>
                </a:solidFill>
              </a:rPr>
              <a:t>Two tasks are tracked separately: one-note lookup and topic sweep across a patch.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208DF0-7099-4731-83D0-046E85647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28800"/>
            <a:ext cx="468630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16201D"/>
          </a:solidFill>
          <a:ln xmlns:a="http://schemas.openxmlformats.org/drawingml/2006/main" w="9525">
            <a:solidFill>
              <a:srgbClr val="26322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B18752-6568-492C-A857-050C7E867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17170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4D399"/>
                </a:solidFill>
              </a:defRPr>
            </a:pPr>
            <a:r>
              <a:rPr sz="2100" b="1">
                <a:solidFill>
                  <a:srgbClr val="34D399"/>
                </a:solidFill>
              </a:rPr>
              <a:t>Lookup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EFA4E1-B6B7-4F04-A650-76CAB5506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686050"/>
            <a:ext cx="152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E6EFEB"/>
                </a:solidFill>
              </a:defRPr>
            </a:pPr>
            <a:r>
              <a:rPr sz="3900" b="1">
                <a:solidFill>
                  <a:srgbClr val="E6EFEB"/>
                </a:solidFill>
              </a:rPr>
              <a:t>72%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55BD53-5D31-4E8C-ABA5-1576273EF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33375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8CA098"/>
                </a:solidFill>
              </a:defRPr>
            </a:pPr>
            <a:r>
              <a:rPr sz="1575" b="0">
                <a:solidFill>
                  <a:srgbClr val="8CA098"/>
                </a:solidFill>
              </a:rPr>
              <a:t>recall@3 for paraphrased questions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5F8E09-1AD6-4077-AB5F-13F6ACE7D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828800"/>
            <a:ext cx="468630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16201D"/>
          </a:solidFill>
          <a:ln xmlns:a="http://schemas.openxmlformats.org/drawingml/2006/main" w="9525">
            <a:solidFill>
              <a:srgbClr val="26322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228CEF-6169-48C4-BD87-AFF46CDCC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17170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4D399"/>
                </a:solidFill>
              </a:defRPr>
            </a:pPr>
            <a:r>
              <a:rPr sz="2100" b="1">
                <a:solidFill>
                  <a:srgbClr val="34D399"/>
                </a:solidFill>
              </a:rPr>
              <a:t>Sweep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1C0F34-7B88-4CB6-B7E2-A43C92DD1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86050"/>
            <a:ext cx="152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E6EFEB"/>
                </a:solidFill>
              </a:defRPr>
            </a:pPr>
            <a:r>
              <a:rPr sz="3900" b="1">
                <a:solidFill>
                  <a:srgbClr val="E6EFEB"/>
                </a:solidFill>
              </a:rPr>
              <a:t>73%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A3363E-508D-4229-AD3D-723F175B1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3337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8CA098"/>
                </a:solidFill>
              </a:defRPr>
            </a:pPr>
            <a:r>
              <a:rPr sz="1575" b="0">
                <a:solidFill>
                  <a:srgbClr val="8CA098"/>
                </a:solidFill>
              </a:rPr>
              <a:t>hit@3 for competitor/topic searches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AFC5A4-5E9D-4960-B9C4-40BA918BE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9149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E6EFEB"/>
                </a:solidFill>
              </a:defRPr>
            </a:pPr>
            <a:r>
              <a:rPr sz="1800" b="0">
                <a:solidFill>
                  <a:srgbClr val="E6EFEB"/>
                </a:solidFill>
              </a:rPr>
              <a:t>AND search found 1 of 80 lookup probes; the shipped query expands terms because spoken questions are messy.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ACCF52-D578-4813-975B-A7797A7DD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CA098"/>
                </a:solidFill>
              </a:defRPr>
            </a:pPr>
            <a:r>
              <a:rPr sz="1050" b="1">
                <a:solidFill>
                  <a:srgbClr val="8CA098"/>
                </a:solidFill>
              </a:rPr>
              <a:t>voice-agent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4A0FE9-5061-4A11-B0FA-1B300ACA6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6324600"/>
            <a:ext cx="590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8CA098"/>
                </a:solidFill>
              </a:defRPr>
            </a:pPr>
            <a:r>
              <a:rPr sz="1050" b="0">
                <a:solidFill>
                  <a:srgbClr val="8CA098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7156753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0F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7FDEDA-3493-4F18-ADF3-B64F375F5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981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E6EFEB"/>
                </a:solidFill>
              </a:defRPr>
            </a:pPr>
            <a:r>
              <a:rPr sz="2850" b="1">
                <a:solidFill>
                  <a:srgbClr val="E6EFEB"/>
                </a:solidFill>
              </a:rPr>
              <a:t>The eval suite tests the agent and the voice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CFBF0D-96EF-4A79-AB93-67555BBDB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66800"/>
            <a:ext cx="933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8CA098"/>
                </a:solidFill>
              </a:defRPr>
            </a:pPr>
            <a:r>
              <a:rPr sz="1575" b="0">
                <a:solidFill>
                  <a:srgbClr val="8CA098"/>
                </a:solidFill>
              </a:rPr>
              <a:t>Text mode is fast enough for reasoning regressions; audio mode exercises the real VAD, endpointer, echo gate, and barge-in.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504ae1fdf84c96"/>
          <a:stretch xmlns:a="http://schemas.openxmlformats.org/drawingml/2006/main"/>
        </p:blipFill>
        <p:spPr>
          <a:xfrm xmlns:a="http://schemas.openxmlformats.org/drawingml/2006/main">
            <a:off x="590550" y="1716881"/>
            <a:ext cx="7239000" cy="2262188"/>
          </a:xfrm>
          <a:prstGeom xmlns:a="http://schemas.openxmlformats.org/drawingml/2006/main" prst="roundRect">
            <a:avLst>
              <a:gd name="adj" fmla="val 3361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EE8DC8-BD54-4B05-BB5F-77D472DCF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95450"/>
            <a:ext cx="2628900" cy="2362200"/>
          </a:xfrm>
          <a:prstGeom xmlns:a="http://schemas.openxmlformats.org/drawingml/2006/main" prst="roundRect">
            <a:avLst>
              <a:gd name="adj" fmla="val 3226"/>
            </a:avLst>
          </a:prstGeom>
          <a:solidFill xmlns:a="http://schemas.openxmlformats.org/drawingml/2006/main">
            <a:srgbClr val="16201D"/>
          </a:solidFill>
          <a:ln xmlns:a="http://schemas.openxmlformats.org/drawingml/2006/main" w="9525">
            <a:solidFill>
              <a:srgbClr val="26322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DE14A8-E5EA-4331-AEA3-927475440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019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4D399"/>
                </a:solidFill>
              </a:defRPr>
            </a:pPr>
            <a:r>
              <a:rPr sz="1575" b="1">
                <a:solidFill>
                  <a:srgbClr val="34D399"/>
                </a:solidFill>
              </a:rPr>
              <a:t>Last recorded text eval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126CB7-578D-48E6-A0C5-71C293ED5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47650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E6EFEB"/>
                </a:solidFill>
              </a:defRPr>
            </a:pPr>
            <a:r>
              <a:rPr sz="3600" b="1">
                <a:solidFill>
                  <a:srgbClr val="E6EFEB"/>
                </a:solidFill>
              </a:rPr>
              <a:t>26 / 33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3CCE4D-ECDD-4C16-ADE7-15124D003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105150"/>
            <a:ext cx="1905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8CA098"/>
                </a:solidFill>
              </a:defRPr>
            </a:pPr>
            <a:r>
              <a:rPr sz="1350" b="0">
                <a:solidFill>
                  <a:srgbClr val="8CA098"/>
                </a:solidFill>
              </a:rPr>
              <a:t>three runs with claude-haiku-4-5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20475A-29B4-4F84-8B32-9C11130A2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5815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0A5FA"/>
          </a:solidFill>
          <a:ln xmlns:a="http://schemas.openxmlformats.org/drawingml/2006/main" w="0">
            <a:solidFill>
              <a:srgbClr val="60A5F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1CB219-B412-4F5C-B89C-D3D49BE53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514850"/>
            <a:ext cx="8172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E6EFEB"/>
                </a:solidFill>
              </a:defRPr>
            </a:pPr>
            <a:r>
              <a:rPr sz="1500" b="0">
                <a:solidFill>
                  <a:srgbClr val="E6EFEB"/>
                </a:solidFill>
              </a:rPr>
              <a:t>Scenario YAML drives simulated caller behaviour.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4950F3-53E3-4D80-8F9B-5BA946B4C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0387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34D39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87F510-228D-4819-BC02-51C8AC264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972050"/>
            <a:ext cx="8743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E6EFEB"/>
                </a:solidFill>
              </a:defRPr>
            </a:pPr>
            <a:r>
              <a:rPr sz="1500" b="0">
                <a:solidFill>
                  <a:srgbClr val="E6EFEB"/>
                </a:solidFill>
              </a:rPr>
              <a:t>Deterministic checks cover tools, facts, leaks, and refusal cases.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842FC5-31B6-45AE-B14D-959EBAF53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4959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solidFill>
              <a:srgbClr val="FBBF2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E3566F-595A-424B-81E4-787B511FF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429250"/>
            <a:ext cx="8553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E6EFEB"/>
                </a:solidFill>
              </a:defRPr>
            </a:pPr>
            <a:r>
              <a:rPr sz="1500" b="0">
                <a:solidFill>
                  <a:srgbClr val="E6EFEB"/>
                </a:solidFill>
              </a:rPr>
              <a:t>Fault injection covers ASR blanking, LLM stalls, and TTS failures.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20B589-E130-4910-AF30-DF0E8D05D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CA098"/>
                </a:solidFill>
              </a:defRPr>
            </a:pPr>
            <a:r>
              <a:rPr sz="1050" b="1">
                <a:solidFill>
                  <a:srgbClr val="8CA098"/>
                </a:solidFill>
              </a:rPr>
              <a:t>voice-agent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22E7AC-F6ED-4744-B559-A8C9C92B3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6324600"/>
            <a:ext cx="590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8CA098"/>
                </a:solidFill>
              </a:defRPr>
            </a:pPr>
            <a:r>
              <a:rPr sz="1050" b="0">
                <a:solidFill>
                  <a:srgbClr val="8CA098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63045586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0F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D17086-3E65-4197-928D-FAD666C8D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981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6EFEB"/>
                </a:solidFill>
              </a:defRPr>
            </a:pPr>
            <a:r>
              <a:rPr sz="2775" b="1">
                <a:solidFill>
                  <a:srgbClr val="E6EFEB"/>
                </a:solidFill>
              </a:rPr>
              <a:t>The project got stronger when measurements contradicted it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303b7742024522"/>
          <a:stretch xmlns:a="http://schemas.openxmlformats.org/drawingml/2006/main"/>
        </p:blipFill>
        <p:spPr>
          <a:xfrm xmlns:a="http://schemas.openxmlformats.org/drawingml/2006/main">
            <a:off x="628650" y="1587341"/>
            <a:ext cx="5295900" cy="1721168"/>
          </a:xfrm>
          <a:prstGeom xmlns:a="http://schemas.openxmlformats.org/drawingml/2006/main" prst="roundRect">
            <a:avLst>
              <a:gd name="adj" fmla="val 3810"/>
            </a:avLst>
          </a:prstGeom>
        </p:spPr>
      </p:pic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690ae99a1c425f"/>
          <a:stretch xmlns:a="http://schemas.openxmlformats.org/drawingml/2006/main"/>
        </p:blipFill>
        <p:spPr>
          <a:xfrm xmlns:a="http://schemas.openxmlformats.org/drawingml/2006/main">
            <a:off x="6267450" y="1521143"/>
            <a:ext cx="5295900" cy="1853565"/>
          </a:xfrm>
          <a:prstGeom xmlns:a="http://schemas.openxmlformats.org/drawingml/2006/main" prst="roundRect">
            <a:avLst>
              <a:gd name="adj" fmla="val 3810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C081C4-A50F-43CD-96E0-E25024E85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1624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solidFill>
              <a:srgbClr val="FBBF2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6B4587-5984-4866-90BB-CE4A43C29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95750"/>
            <a:ext cx="8934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E6EFEB"/>
                </a:solidFill>
              </a:defRPr>
            </a:pPr>
            <a:r>
              <a:rPr sz="1500" b="0">
                <a:solidFill>
                  <a:srgbClr val="E6EFEB"/>
                </a:solidFill>
              </a:rPr>
              <a:t>250ms endpointing looked fast, but cut callers off on 10 of 30 turns.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902E49-EC64-4953-93EC-1535ED973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6767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87171"/>
          </a:solidFill>
          <a:ln xmlns:a="http://schemas.openxmlformats.org/drawingml/2006/main" w="0">
            <a:solidFill>
              <a:srgbClr val="F8717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37D24F-9B93-44B5-BAF0-F92632ABB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10100"/>
            <a:ext cx="8934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E6EFEB"/>
                </a:solidFill>
              </a:defRPr>
            </a:pPr>
            <a:r>
              <a:rPr sz="1500" b="0">
                <a:solidFill>
                  <a:srgbClr val="E6EFEB"/>
                </a:solidFill>
              </a:rPr>
              <a:t>First-audio once measured the last outbound frame and even went negative.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BB54A0-BF29-4450-ABCA-F6B116758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1911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34D39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E10BCC-2D28-4D72-8B12-DCD0B1A04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124450"/>
            <a:ext cx="8934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E6EFEB"/>
                </a:solidFill>
              </a:defRPr>
            </a:pPr>
            <a:r>
              <a:rPr sz="1500" b="0">
                <a:solidFill>
                  <a:srgbClr val="E6EFEB"/>
                </a:solidFill>
              </a:rPr>
              <a:t>A red-team note relayed a fake discount with all unit tests green.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BDFD87-C2A7-48B0-8617-66C642B8B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82930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4D399"/>
                </a:solidFill>
              </a:defRPr>
            </a:pPr>
            <a:r>
              <a:rPr sz="1800" b="1">
                <a:solidFill>
                  <a:srgbClr val="34D399"/>
                </a:solidFill>
              </a:rPr>
              <a:t>The strongest claim is not “we measured it”; it is “we found where the measurement lied.”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00AE7D-42D5-4C29-A357-C1461EB9D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CA098"/>
                </a:solidFill>
              </a:defRPr>
            </a:pPr>
            <a:r>
              <a:rPr sz="1050" b="1">
                <a:solidFill>
                  <a:srgbClr val="8CA098"/>
                </a:solidFill>
              </a:rPr>
              <a:t>voice-agent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5F187A-AD1B-459D-95DA-A0CEB88C3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6324600"/>
            <a:ext cx="590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8CA098"/>
                </a:solidFill>
              </a:defRPr>
            </a:pPr>
            <a:r>
              <a:rPr sz="1050" b="0">
                <a:solidFill>
                  <a:srgbClr val="8CA098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14350624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B0F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4305FF1-72B1-4432-8296-4CBBB35A8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895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E6EFEB"/>
                </a:solidFill>
              </a:defRPr>
            </a:pPr>
            <a:r>
              <a:rPr sz="3000" b="1">
                <a:solidFill>
                  <a:srgbClr val="E6EFEB"/>
                </a:solidFill>
              </a:rPr>
              <a:t>The video should prove three behaviours quickly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B815B2-E1A5-4B51-8059-728CAB33F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466850"/>
            <a:ext cx="9429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11614"/>
          </a:solidFill>
          <a:ln xmlns:a="http://schemas.openxmlformats.org/drawingml/2006/main" w="9525">
            <a:solidFill>
              <a:srgbClr val="26322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6C9E2C-6C77-4650-BF97-6E4502C19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38300"/>
            <a:ext cx="47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34D399"/>
                </a:solidFill>
              </a:defRPr>
            </a:pPr>
            <a:r>
              <a:rPr sz="2850" b="1">
                <a:solidFill>
                  <a:srgbClr val="34D399"/>
                </a:solidFill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23342F-CC67-4844-BE59-2D7783E73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1638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6EFEB"/>
                </a:solidFill>
              </a:defRPr>
            </a:pPr>
            <a:r>
              <a:rPr sz="1800" b="1">
                <a:solidFill>
                  <a:srgbClr val="E6EFEB"/>
                </a:solidFill>
              </a:rPr>
              <a:t>Normal call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7C4B44-C098-413D-B117-F73AC320D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1981200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8CA098"/>
                </a:solidFill>
              </a:defRPr>
            </a:pPr>
            <a:r>
              <a:rPr sz="1350" b="0">
                <a:solidFill>
                  <a:srgbClr val="8CA098"/>
                </a:solidFill>
              </a:rPr>
              <a:t>Ask which accounts are slipping; show tool calls and grounded numbers.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3BE3EC-1BF4-4C93-8E1E-2420CE9F3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95550"/>
            <a:ext cx="9429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6201D"/>
          </a:solidFill>
          <a:ln xmlns:a="http://schemas.openxmlformats.org/drawingml/2006/main" w="9525">
            <a:solidFill>
              <a:srgbClr val="26322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0D1DBD-86CA-4B6D-AB13-A0DB1FD17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667000"/>
            <a:ext cx="47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34D399"/>
                </a:solidFill>
              </a:defRPr>
            </a:pPr>
            <a:r>
              <a:rPr sz="2850" b="1">
                <a:solidFill>
                  <a:srgbClr val="34D399"/>
                </a:solidFill>
              </a:rPr>
              <a:t>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52F38C-6B26-414F-A5CF-4B2440971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26670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6EFEB"/>
                </a:solidFill>
              </a:defRPr>
            </a:pPr>
            <a:r>
              <a:rPr sz="1800" b="1">
                <a:solidFill>
                  <a:srgbClr val="E6EFEB"/>
                </a:solidFill>
              </a:rPr>
              <a:t>Barge-in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98B9E5-D4C8-4A08-BAA0-FFFB7E9C5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009900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8CA098"/>
                </a:solidFill>
              </a:defRPr>
            </a:pPr>
            <a:r>
              <a:rPr sz="1350" b="0">
                <a:solidFill>
                  <a:srgbClr val="8CA098"/>
                </a:solidFill>
              </a:rPr>
              <a:t>Interrupt mid-answer; show cancellation and truncated spoken history.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6914E9-D088-4A48-9262-91D77E31B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524250"/>
            <a:ext cx="9429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11614"/>
          </a:solidFill>
          <a:ln xmlns:a="http://schemas.openxmlformats.org/drawingml/2006/main" w="9525">
            <a:solidFill>
              <a:srgbClr val="26322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2408F8-C84A-4760-9B90-4448D72B8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695700"/>
            <a:ext cx="47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34D399"/>
                </a:solidFill>
              </a:defRPr>
            </a:pPr>
            <a:r>
              <a:rPr sz="2850" b="1">
                <a:solidFill>
                  <a:srgbClr val="34D399"/>
                </a:solidFill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68BDAB-4712-47C6-8ADB-FD439B50B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6957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6EFEB"/>
                </a:solidFill>
              </a:defRPr>
            </a:pPr>
            <a:r>
              <a:rPr sz="1800" b="1">
                <a:solidFill>
                  <a:srgbClr val="E6EFEB"/>
                </a:solidFill>
              </a:rPr>
              <a:t>Adversarial note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2693AA-B605-476C-80C6-1E298B9DA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038600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8CA098"/>
                </a:solidFill>
              </a:defRPr>
            </a:pPr>
            <a:r>
              <a:rPr sz="1350" b="0">
                <a:solidFill>
                  <a:srgbClr val="8CA098"/>
                </a:solidFill>
              </a:rPr>
              <a:t>Ask about a poisoned note; show the agent treats it as untrusted text.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876F53-E041-4EB9-AFEA-16C7E570F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552950"/>
            <a:ext cx="9429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11614"/>
          </a:solidFill>
          <a:ln xmlns:a="http://schemas.openxmlformats.org/drawingml/2006/main" w="9525">
            <a:solidFill>
              <a:srgbClr val="26322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CE1A61-3089-4433-A7C2-BD34E3B9A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724400"/>
            <a:ext cx="47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34D399"/>
                </a:solidFill>
              </a:defRPr>
            </a:pPr>
            <a:r>
              <a:rPr sz="2850" b="1">
                <a:solidFill>
                  <a:srgbClr val="34D399"/>
                </a:solidFill>
              </a:rPr>
              <a:t>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39BA68-B3A6-4D47-ADBF-AB19F72BB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7244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6EFEB"/>
                </a:solidFill>
              </a:defRPr>
            </a:pPr>
            <a:r>
              <a:rPr sz="1800" b="1">
                <a:solidFill>
                  <a:srgbClr val="E6EFEB"/>
                </a:solidFill>
              </a:rPr>
              <a:t>Eval dashboard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EEC7D2-4781-4DD0-93FA-860CB8D2C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5067300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8CA098"/>
                </a:solidFill>
              </a:defRPr>
            </a:pPr>
            <a:r>
              <a:rPr sz="1350" b="0">
                <a:solidFill>
                  <a:srgbClr val="8CA098"/>
                </a:solidFill>
              </a:rPr>
              <a:t>Close on recorded eval score, latency, and known remaining failures.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1BE27B-8337-4B64-8A9B-60DF59DA8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CA098"/>
                </a:solidFill>
              </a:defRPr>
            </a:pPr>
            <a:r>
              <a:rPr sz="1050" b="1">
                <a:solidFill>
                  <a:srgbClr val="8CA098"/>
                </a:solidFill>
              </a:rPr>
              <a:t>voice-agent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5A3133-C7B9-46D5-A1C9-4D8E6AB49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6324600"/>
            <a:ext cx="590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8CA098"/>
                </a:solidFill>
              </a:defRPr>
            </a:pPr>
            <a:r>
              <a:rPr sz="1050" b="0">
                <a:solidFill>
                  <a:srgbClr val="8CA098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15635808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0F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860CD38-C6B4-4FD7-B6D5-CBDBD6B26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9906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E6EFEB"/>
                </a:solidFill>
              </a:defRPr>
            </a:pPr>
            <a:r>
              <a:rPr sz="2850" b="1">
                <a:solidFill>
                  <a:srgbClr val="E6EFEB"/>
                </a:solidFill>
              </a:rPr>
              <a:t>Make the README feel like a complete application packet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3AC7E4-F798-49F1-8B40-9357691DF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47800"/>
            <a:ext cx="381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4D399"/>
                </a:solidFill>
              </a:defRPr>
            </a:pPr>
            <a:r>
              <a:rPr sz="2100" b="1">
                <a:solidFill>
                  <a:srgbClr val="34D399"/>
                </a:solidFill>
              </a:rPr>
              <a:t>README artifacts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5D0BCC-1A86-4D54-BE91-2B7FCA8C6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669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34D39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D9969F-FB56-4F0E-AD71-FA3035FC3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000250"/>
            <a:ext cx="4552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E6EFEB"/>
                </a:solidFill>
              </a:defRPr>
            </a:pPr>
            <a:r>
              <a:rPr sz="1500" b="0">
                <a:solidFill>
                  <a:srgbClr val="E6EFEB"/>
                </a:solidFill>
              </a:rPr>
              <a:t>Live/local demo section with a realistic deployment note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EA7032-30F1-4C16-BB21-95399C2C0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574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34D39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DD4404-A5B2-4CDC-BBDA-C41902A0B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590800"/>
            <a:ext cx="4552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E6EFEB"/>
                </a:solidFill>
              </a:defRPr>
            </a:pPr>
            <a:r>
              <a:rPr sz="1500" b="0">
                <a:solidFill>
                  <a:srgbClr val="E6EFEB"/>
                </a:solidFill>
              </a:rPr>
              <a:t>Architecture diagram plus plain-English walkthrough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424D4E-E2C8-48B1-A439-BB100E48F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480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34D39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42663A-DC77-444D-9F08-2C5D65E71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181350"/>
            <a:ext cx="4552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E6EFEB"/>
                </a:solidFill>
              </a:defRPr>
            </a:pPr>
            <a:r>
              <a:rPr sz="1500" b="0">
                <a:solidFill>
                  <a:srgbClr val="E6EFEB"/>
                </a:solidFill>
              </a:rPr>
              <a:t>Evaluation report with command, score, failures, and sample transcripts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F71645-1897-4040-9F01-C9AC33B3F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8385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solidFill>
              <a:srgbClr val="34D39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2388F7-7FED-4173-945C-57D99F2B1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771900"/>
            <a:ext cx="4552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E6EFEB"/>
                </a:solidFill>
              </a:defRPr>
            </a:pPr>
            <a:r>
              <a:rPr sz="1500" b="0">
                <a:solidFill>
                  <a:srgbClr val="E6EFEB"/>
                </a:solidFill>
              </a:rPr>
              <a:t>Short video link and three-scenario demo script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295311-14AD-4D0B-8E18-A8613C44F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447800"/>
            <a:ext cx="381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4D399"/>
                </a:solidFill>
              </a:defRPr>
            </a:pPr>
            <a:r>
              <a:rPr sz="2100" b="1">
                <a:solidFill>
                  <a:srgbClr val="34D399"/>
                </a:solidFill>
              </a:rPr>
              <a:t>Proof artifacts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C613C9-09A0-4042-A67F-76B034EE6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0669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0A5FA"/>
          </a:solidFill>
          <a:ln xmlns:a="http://schemas.openxmlformats.org/drawingml/2006/main" w="0">
            <a:solidFill>
              <a:srgbClr val="60A5F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408324-33B7-42C7-97B6-0E375A170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000250"/>
            <a:ext cx="4362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E6EFEB"/>
                </a:solidFill>
              </a:defRPr>
            </a:pPr>
            <a:r>
              <a:rPr sz="1500" b="0">
                <a:solidFill>
                  <a:srgbClr val="E6EFEB"/>
                </a:solidFill>
              </a:rPr>
              <a:t>Production note: TMC/Vonage project covers live telephony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A1A765-9EB8-4E2C-A178-C9657E543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574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0A5FA"/>
          </a:solidFill>
          <a:ln xmlns:a="http://schemas.openxmlformats.org/drawingml/2006/main" w="0">
            <a:solidFill>
              <a:srgbClr val="60A5F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D4A539-715E-49CA-B566-02399E735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590800"/>
            <a:ext cx="4362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E6EFEB"/>
                </a:solidFill>
              </a:defRPr>
            </a:pPr>
            <a:r>
              <a:rPr sz="1500" b="0">
                <a:solidFill>
                  <a:srgbClr val="E6EFEB"/>
                </a:solidFill>
              </a:rPr>
              <a:t>CI badge for pytest, ruff, mypy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0A6788-24AD-44F0-A159-4D0A82753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2480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0A5FA"/>
          </a:solidFill>
          <a:ln xmlns:a="http://schemas.openxmlformats.org/drawingml/2006/main" w="0">
            <a:solidFill>
              <a:srgbClr val="60A5F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7663D8-E82B-434D-BC75-9ADFF082A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181350"/>
            <a:ext cx="4362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E6EFEB"/>
                </a:solidFill>
              </a:defRPr>
            </a:pPr>
            <a:r>
              <a:rPr sz="1500" b="0">
                <a:solidFill>
                  <a:srgbClr val="E6EFEB"/>
                </a:solidFill>
              </a:rPr>
              <a:t>Implemented vs planned matrix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236FF20-3B03-477B-941A-CEE9AD5E9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8385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0A5FA"/>
          </a:solidFill>
          <a:ln xmlns:a="http://schemas.openxmlformats.org/drawingml/2006/main" w="0">
            <a:solidFill>
              <a:srgbClr val="60A5F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C2AADB-40F3-4628-96AE-8550EAC36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771900"/>
            <a:ext cx="4362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E6EFEB"/>
                </a:solidFill>
              </a:defRPr>
            </a:pPr>
            <a:r>
              <a:rPr sz="1500" b="0">
                <a:solidFill>
                  <a:srgbClr val="E6EFEB"/>
                </a:solidFill>
              </a:rPr>
              <a:t>One-page application case study for Acto-style revenue workflows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8A574AA-2080-4192-A3EC-639695349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829300"/>
            <a:ext cx="895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6EFEB"/>
                </a:solidFill>
              </a:defRPr>
            </a:pPr>
            <a:r>
              <a:rPr sz="1800" b="1">
                <a:solidFill>
                  <a:srgbClr val="E6EFEB"/>
                </a:solidFill>
              </a:rPr>
              <a:t>Positioning: this repo proves the architecture and eval discipline; TMC proves production telephony.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C59639-E7CF-4E4C-A83E-804A7707D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CA098"/>
                </a:solidFill>
              </a:defRPr>
            </a:pPr>
            <a:r>
              <a:rPr sz="1050" b="1">
                <a:solidFill>
                  <a:srgbClr val="8CA098"/>
                </a:solidFill>
              </a:rPr>
              <a:t>voice-agent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CD3289-2E84-4DC5-9DAC-57EC025C7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6324600"/>
            <a:ext cx="590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8CA098"/>
                </a:solidFill>
              </a:defRPr>
            </a:pPr>
            <a:r>
              <a:rPr sz="1050" b="0">
                <a:solidFill>
                  <a:srgbClr val="8CA098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85647996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2026-08-03T14:44:14.0510000Z</dcterms:created>
  <dcterms:modified xsi:type="dcterms:W3CDTF">2026-08-03T14:44:14.0510000Z</dcterms:modified>
</coreProperties>
</file>